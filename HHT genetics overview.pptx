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56" r:id="rId2"/>
    <p:sldId id="258" r:id="rId3"/>
    <p:sldId id="274" r:id="rId4"/>
    <p:sldId id="275" r:id="rId5"/>
    <p:sldId id="277" r:id="rId6"/>
    <p:sldId id="276" r:id="rId7"/>
    <p:sldId id="278" r:id="rId8"/>
    <p:sldId id="257" r:id="rId9"/>
    <p:sldId id="263" r:id="rId10"/>
    <p:sldId id="269" r:id="rId11"/>
    <p:sldId id="270" r:id="rId12"/>
    <p:sldId id="271" r:id="rId13"/>
    <p:sldId id="266" r:id="rId14"/>
    <p:sldId id="279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5D75B24-F228-413E-9F14-79DB26FA6BAC}" v="115" dt="2026-09-30T18:33:02.52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0073" autoAdjust="0"/>
  </p:normalViewPr>
  <p:slideViewPr>
    <p:cSldViewPr snapToGrid="0">
      <p:cViewPr varScale="1">
        <p:scale>
          <a:sx n="100" d="100"/>
          <a:sy n="100" d="100"/>
        </p:scale>
        <p:origin x="95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evin Ma" userId="ec314013063e2a62" providerId="LiveId" clId="{49DB57E9-981A-4908-AD2C-B1B915A7A447}"/>
    <pc:docChg chg="undo custSel addSld delSld modSld sldOrd">
      <pc:chgData name="Kevin Ma" userId="ec314013063e2a62" providerId="LiveId" clId="{49DB57E9-981A-4908-AD2C-B1B915A7A447}" dt="2026-09-30T20:06:52.639" v="10658" actId="20577"/>
      <pc:docMkLst>
        <pc:docMk/>
      </pc:docMkLst>
      <pc:sldChg chg="modSp new mod">
        <pc:chgData name="Kevin Ma" userId="ec314013063e2a62" providerId="LiveId" clId="{49DB57E9-981A-4908-AD2C-B1B915A7A447}" dt="2026-09-30T15:04:40.895" v="5858" actId="20577"/>
        <pc:sldMkLst>
          <pc:docMk/>
          <pc:sldMk cId="2140217212" sldId="256"/>
        </pc:sldMkLst>
        <pc:spChg chg="mod">
          <ac:chgData name="Kevin Ma" userId="ec314013063e2a62" providerId="LiveId" clId="{49DB57E9-981A-4908-AD2C-B1B915A7A447}" dt="2026-09-30T15:04:34.313" v="5842" actId="20577"/>
          <ac:spMkLst>
            <pc:docMk/>
            <pc:sldMk cId="2140217212" sldId="256"/>
            <ac:spMk id="2" creationId="{5B5A33CD-7E67-9F44-941B-4A019D24F6C9}"/>
          </ac:spMkLst>
        </pc:spChg>
        <pc:spChg chg="mod">
          <ac:chgData name="Kevin Ma" userId="ec314013063e2a62" providerId="LiveId" clId="{49DB57E9-981A-4908-AD2C-B1B915A7A447}" dt="2026-09-30T15:04:40.895" v="5858" actId="20577"/>
          <ac:spMkLst>
            <pc:docMk/>
            <pc:sldMk cId="2140217212" sldId="256"/>
            <ac:spMk id="3" creationId="{178B5224-8B95-70EC-FEBC-E99A64027512}"/>
          </ac:spMkLst>
        </pc:spChg>
      </pc:sldChg>
      <pc:sldChg chg="addSp delSp modSp new mod ord modNotesTx">
        <pc:chgData name="Kevin Ma" userId="ec314013063e2a62" providerId="LiveId" clId="{49DB57E9-981A-4908-AD2C-B1B915A7A447}" dt="2026-09-30T20:06:52.639" v="10658" actId="20577"/>
        <pc:sldMkLst>
          <pc:docMk/>
          <pc:sldMk cId="1153347080" sldId="257"/>
        </pc:sldMkLst>
        <pc:spChg chg="mod">
          <ac:chgData name="Kevin Ma" userId="ec314013063e2a62" providerId="LiveId" clId="{49DB57E9-981A-4908-AD2C-B1B915A7A447}" dt="2026-09-15T19:47:31.895" v="3805" actId="1076"/>
          <ac:spMkLst>
            <pc:docMk/>
            <pc:sldMk cId="1153347080" sldId="257"/>
            <ac:spMk id="2" creationId="{B4F42BD1-BA35-E744-E822-90B7C5BB1CF0}"/>
          </ac:spMkLst>
        </pc:spChg>
        <pc:spChg chg="mod">
          <ac:chgData name="Kevin Ma" userId="ec314013063e2a62" providerId="LiveId" clId="{49DB57E9-981A-4908-AD2C-B1B915A7A447}" dt="2026-09-30T18:08:43.566" v="8238" actId="20577"/>
          <ac:spMkLst>
            <pc:docMk/>
            <pc:sldMk cId="1153347080" sldId="257"/>
            <ac:spMk id="3" creationId="{F5D1797E-A070-8DDE-4162-8F1E1735C792}"/>
          </ac:spMkLst>
        </pc:spChg>
        <pc:spChg chg="add mod">
          <ac:chgData name="Kevin Ma" userId="ec314013063e2a62" providerId="LiveId" clId="{49DB57E9-981A-4908-AD2C-B1B915A7A447}" dt="2026-09-15T19:48:31.570" v="3849" actId="14100"/>
          <ac:spMkLst>
            <pc:docMk/>
            <pc:sldMk cId="1153347080" sldId="257"/>
            <ac:spMk id="9" creationId="{5CBF3ADB-D955-C73A-9602-28A2DFF9F752}"/>
          </ac:spMkLst>
        </pc:spChg>
        <pc:picChg chg="add mod">
          <ac:chgData name="Kevin Ma" userId="ec314013063e2a62" providerId="LiveId" clId="{49DB57E9-981A-4908-AD2C-B1B915A7A447}" dt="2026-09-15T19:47:35.576" v="3808" actId="1076"/>
          <ac:picMkLst>
            <pc:docMk/>
            <pc:sldMk cId="1153347080" sldId="257"/>
            <ac:picMk id="7" creationId="{066CF931-AE37-5B60-9DA1-C351D16D7B72}"/>
          </ac:picMkLst>
        </pc:picChg>
      </pc:sldChg>
      <pc:sldChg chg="modSp new mod">
        <pc:chgData name="Kevin Ma" userId="ec314013063e2a62" providerId="LiveId" clId="{49DB57E9-981A-4908-AD2C-B1B915A7A447}" dt="2026-09-30T18:32:26.825" v="10072" actId="20577"/>
        <pc:sldMkLst>
          <pc:docMk/>
          <pc:sldMk cId="4164061495" sldId="258"/>
        </pc:sldMkLst>
        <pc:spChg chg="mod">
          <ac:chgData name="Kevin Ma" userId="ec314013063e2a62" providerId="LiveId" clId="{49DB57E9-981A-4908-AD2C-B1B915A7A447}" dt="2026-09-30T15:13:08.675" v="5983" actId="20577"/>
          <ac:spMkLst>
            <pc:docMk/>
            <pc:sldMk cId="4164061495" sldId="258"/>
            <ac:spMk id="2" creationId="{7DAC063E-B258-5473-5F51-FE1E4B44C6F4}"/>
          </ac:spMkLst>
        </pc:spChg>
        <pc:spChg chg="mod">
          <ac:chgData name="Kevin Ma" userId="ec314013063e2a62" providerId="LiveId" clId="{49DB57E9-981A-4908-AD2C-B1B915A7A447}" dt="2026-09-30T18:32:26.825" v="10072" actId="20577"/>
          <ac:spMkLst>
            <pc:docMk/>
            <pc:sldMk cId="4164061495" sldId="258"/>
            <ac:spMk id="3" creationId="{A4FD3AED-2B3C-A3C6-F776-F165193DC747}"/>
          </ac:spMkLst>
        </pc:spChg>
      </pc:sldChg>
      <pc:sldChg chg="modSp new del mod ord">
        <pc:chgData name="Kevin Ma" userId="ec314013063e2a62" providerId="LiveId" clId="{49DB57E9-981A-4908-AD2C-B1B915A7A447}" dt="2026-09-30T18:27:02.382" v="9551" actId="47"/>
        <pc:sldMkLst>
          <pc:docMk/>
          <pc:sldMk cId="1446645789" sldId="259"/>
        </pc:sldMkLst>
        <pc:spChg chg="mod">
          <ac:chgData name="Kevin Ma" userId="ec314013063e2a62" providerId="LiveId" clId="{49DB57E9-981A-4908-AD2C-B1B915A7A447}" dt="2026-09-30T18:26:59.754" v="9550" actId="20577"/>
          <ac:spMkLst>
            <pc:docMk/>
            <pc:sldMk cId="1446645789" sldId="259"/>
            <ac:spMk id="3" creationId="{D1F1FC5B-325C-BD4B-E7D3-FAC98DB30754}"/>
          </ac:spMkLst>
        </pc:spChg>
      </pc:sldChg>
      <pc:sldChg chg="modSp new del mod ord">
        <pc:chgData name="Kevin Ma" userId="ec314013063e2a62" providerId="LiveId" clId="{49DB57E9-981A-4908-AD2C-B1B915A7A447}" dt="2026-09-30T15:28:09.746" v="7642" actId="47"/>
        <pc:sldMkLst>
          <pc:docMk/>
          <pc:sldMk cId="2747883982" sldId="260"/>
        </pc:sldMkLst>
      </pc:sldChg>
      <pc:sldChg chg="modSp new del mod">
        <pc:chgData name="Kevin Ma" userId="ec314013063e2a62" providerId="LiveId" clId="{49DB57E9-981A-4908-AD2C-B1B915A7A447}" dt="2026-09-30T15:28:09.746" v="7642" actId="47"/>
        <pc:sldMkLst>
          <pc:docMk/>
          <pc:sldMk cId="799069669" sldId="261"/>
        </pc:sldMkLst>
      </pc:sldChg>
      <pc:sldChg chg="modSp new del mod">
        <pc:chgData name="Kevin Ma" userId="ec314013063e2a62" providerId="LiveId" clId="{49DB57E9-981A-4908-AD2C-B1B915A7A447}" dt="2026-09-30T18:26:31.931" v="9549" actId="47"/>
        <pc:sldMkLst>
          <pc:docMk/>
          <pc:sldMk cId="4100581598" sldId="262"/>
        </pc:sldMkLst>
      </pc:sldChg>
      <pc:sldChg chg="addSp modSp new mod ord">
        <pc:chgData name="Kevin Ma" userId="ec314013063e2a62" providerId="LiveId" clId="{49DB57E9-981A-4908-AD2C-B1B915A7A447}" dt="2026-09-30T15:27:30.814" v="7639"/>
        <pc:sldMkLst>
          <pc:docMk/>
          <pc:sldMk cId="3296963281" sldId="263"/>
        </pc:sldMkLst>
        <pc:spChg chg="mod">
          <ac:chgData name="Kevin Ma" userId="ec314013063e2a62" providerId="LiveId" clId="{49DB57E9-981A-4908-AD2C-B1B915A7A447}" dt="2026-09-15T18:38:56.200" v="2028" actId="404"/>
          <ac:spMkLst>
            <pc:docMk/>
            <pc:sldMk cId="3296963281" sldId="263"/>
            <ac:spMk id="2" creationId="{FBDC2B8B-9D70-44F2-81A5-F251F10E8333}"/>
          </ac:spMkLst>
        </pc:spChg>
        <pc:picChg chg="add mod">
          <ac:chgData name="Kevin Ma" userId="ec314013063e2a62" providerId="LiveId" clId="{49DB57E9-981A-4908-AD2C-B1B915A7A447}" dt="2026-09-15T18:07:03.162" v="515" actId="1076"/>
          <ac:picMkLst>
            <pc:docMk/>
            <pc:sldMk cId="3296963281" sldId="263"/>
            <ac:picMk id="5" creationId="{B4D26343-6620-A836-6873-BF2993D13CAE}"/>
          </ac:picMkLst>
        </pc:picChg>
        <pc:picChg chg="add mod">
          <ac:chgData name="Kevin Ma" userId="ec314013063e2a62" providerId="LiveId" clId="{49DB57E9-981A-4908-AD2C-B1B915A7A447}" dt="2026-09-15T18:07:05.194" v="516" actId="1076"/>
          <ac:picMkLst>
            <pc:docMk/>
            <pc:sldMk cId="3296963281" sldId="263"/>
            <ac:picMk id="7" creationId="{E66A7689-F648-974B-1597-81F4E3A6AF1D}"/>
          </ac:picMkLst>
        </pc:picChg>
      </pc:sldChg>
      <pc:sldChg chg="addSp delSp modSp new del mod ord">
        <pc:chgData name="Kevin Ma" userId="ec314013063e2a62" providerId="LiveId" clId="{49DB57E9-981A-4908-AD2C-B1B915A7A447}" dt="2026-09-30T18:34:43.877" v="10121" actId="2696"/>
        <pc:sldMkLst>
          <pc:docMk/>
          <pc:sldMk cId="2447205700" sldId="264"/>
        </pc:sldMkLst>
        <pc:spChg chg="mod">
          <ac:chgData name="Kevin Ma" userId="ec314013063e2a62" providerId="LiveId" clId="{49DB57E9-981A-4908-AD2C-B1B915A7A447}" dt="2026-09-30T18:34:22.760" v="10113" actId="21"/>
          <ac:spMkLst>
            <pc:docMk/>
            <pc:sldMk cId="2447205700" sldId="264"/>
            <ac:spMk id="3" creationId="{32939499-23AE-9A08-F758-357B971DFDD6}"/>
          </ac:spMkLst>
        </pc:spChg>
      </pc:sldChg>
      <pc:sldChg chg="addSp delSp modSp new mod">
        <pc:chgData name="Kevin Ma" userId="ec314013063e2a62" providerId="LiveId" clId="{49DB57E9-981A-4908-AD2C-B1B915A7A447}" dt="2026-09-30T18:35:44.578" v="10399" actId="20577"/>
        <pc:sldMkLst>
          <pc:docMk/>
          <pc:sldMk cId="3350191253" sldId="266"/>
        </pc:sldMkLst>
        <pc:spChg chg="mod">
          <ac:chgData name="Kevin Ma" userId="ec314013063e2a62" providerId="LiveId" clId="{49DB57E9-981A-4908-AD2C-B1B915A7A447}" dt="2026-09-30T18:30:07.651" v="9881" actId="20577"/>
          <ac:spMkLst>
            <pc:docMk/>
            <pc:sldMk cId="3350191253" sldId="266"/>
            <ac:spMk id="2" creationId="{E4DC2781-38DA-DC32-03C7-35AAED1C8A6B}"/>
          </ac:spMkLst>
        </pc:spChg>
        <pc:spChg chg="add mod">
          <ac:chgData name="Kevin Ma" userId="ec314013063e2a62" providerId="LiveId" clId="{49DB57E9-981A-4908-AD2C-B1B915A7A447}" dt="2026-09-30T18:35:44.578" v="10399" actId="20577"/>
          <ac:spMkLst>
            <pc:docMk/>
            <pc:sldMk cId="3350191253" sldId="266"/>
            <ac:spMk id="15" creationId="{24EED251-D73A-74A1-3B08-EE88AEC5B541}"/>
          </ac:spMkLst>
        </pc:spChg>
      </pc:sldChg>
      <pc:sldChg chg="addSp delSp modSp new del mod ord modNotesTx">
        <pc:chgData name="Kevin Ma" userId="ec314013063e2a62" providerId="LiveId" clId="{49DB57E9-981A-4908-AD2C-B1B915A7A447}" dt="2026-09-30T20:06:33.498" v="10654" actId="47"/>
        <pc:sldMkLst>
          <pc:docMk/>
          <pc:sldMk cId="1815201196" sldId="267"/>
        </pc:sldMkLst>
        <pc:spChg chg="mod">
          <ac:chgData name="Kevin Ma" userId="ec314013063e2a62" providerId="LiveId" clId="{49DB57E9-981A-4908-AD2C-B1B915A7A447}" dt="2026-09-15T18:41:26.638" v="2208" actId="20577"/>
          <ac:spMkLst>
            <pc:docMk/>
            <pc:sldMk cId="1815201196" sldId="267"/>
            <ac:spMk id="2" creationId="{7F08C5DF-9640-2CA8-0A33-092C5556D022}"/>
          </ac:spMkLst>
        </pc:spChg>
        <pc:spChg chg="mod">
          <ac:chgData name="Kevin Ma" userId="ec314013063e2a62" providerId="LiveId" clId="{49DB57E9-981A-4908-AD2C-B1B915A7A447}" dt="2026-09-30T20:06:23.722" v="10653" actId="27636"/>
          <ac:spMkLst>
            <pc:docMk/>
            <pc:sldMk cId="1815201196" sldId="267"/>
            <ac:spMk id="3" creationId="{DDF0502B-00AD-0068-7B53-75EB33597781}"/>
          </ac:spMkLst>
        </pc:spChg>
      </pc:sldChg>
      <pc:sldChg chg="addSp delSp modSp new del mod ord">
        <pc:chgData name="Kevin Ma" userId="ec314013063e2a62" providerId="LiveId" clId="{49DB57E9-981A-4908-AD2C-B1B915A7A447}" dt="2026-09-30T18:29:26.940" v="9854" actId="2696"/>
        <pc:sldMkLst>
          <pc:docMk/>
          <pc:sldMk cId="491022661" sldId="268"/>
        </pc:sldMkLst>
        <pc:spChg chg="mod">
          <ac:chgData name="Kevin Ma" userId="ec314013063e2a62" providerId="LiveId" clId="{49DB57E9-981A-4908-AD2C-B1B915A7A447}" dt="2026-09-30T18:29:13.156" v="9843" actId="21"/>
          <ac:spMkLst>
            <pc:docMk/>
            <pc:sldMk cId="491022661" sldId="268"/>
            <ac:spMk id="2" creationId="{1C34D79C-F18D-8EC8-96C3-E209ED0620FE}"/>
          </ac:spMkLst>
        </pc:spChg>
      </pc:sldChg>
      <pc:sldChg chg="addSp delSp modSp new mod ord modNotesTx">
        <pc:chgData name="Kevin Ma" userId="ec314013063e2a62" providerId="LiveId" clId="{49DB57E9-981A-4908-AD2C-B1B915A7A447}" dt="2026-09-30T18:29:23.170" v="9853" actId="1076"/>
        <pc:sldMkLst>
          <pc:docMk/>
          <pc:sldMk cId="3826225355" sldId="269"/>
        </pc:sldMkLst>
        <pc:spChg chg="mod">
          <ac:chgData name="Kevin Ma" userId="ec314013063e2a62" providerId="LiveId" clId="{49DB57E9-981A-4908-AD2C-B1B915A7A447}" dt="2026-09-30T18:29:02.322" v="9842" actId="20577"/>
          <ac:spMkLst>
            <pc:docMk/>
            <pc:sldMk cId="3826225355" sldId="269"/>
            <ac:spMk id="2" creationId="{126D941B-E294-8646-F588-C1A23EF99BDE}"/>
          </ac:spMkLst>
        </pc:spChg>
        <pc:spChg chg="add mod">
          <ac:chgData name="Kevin Ma" userId="ec314013063e2a62" providerId="LiveId" clId="{49DB57E9-981A-4908-AD2C-B1B915A7A447}" dt="2026-09-30T18:29:23.170" v="9853" actId="1076"/>
          <ac:spMkLst>
            <pc:docMk/>
            <pc:sldMk cId="3826225355" sldId="269"/>
            <ac:spMk id="4" creationId="{1BB64829-5673-F8A9-BBE4-D78DAE5B7085}"/>
          </ac:spMkLst>
        </pc:spChg>
        <pc:graphicFrameChg chg="add mod modGraphic">
          <ac:chgData name="Kevin Ma" userId="ec314013063e2a62" providerId="LiveId" clId="{49DB57E9-981A-4908-AD2C-B1B915A7A447}" dt="2026-09-15T19:44:32.971" v="3597" actId="14100"/>
          <ac:graphicFrameMkLst>
            <pc:docMk/>
            <pc:sldMk cId="3826225355" sldId="269"/>
            <ac:graphicFrameMk id="12" creationId="{89A6A346-DF7F-71F5-97F4-8D8E355CE40B}"/>
          </ac:graphicFrameMkLst>
        </pc:graphicFrameChg>
        <pc:picChg chg="add mod">
          <ac:chgData name="Kevin Ma" userId="ec314013063e2a62" providerId="LiveId" clId="{49DB57E9-981A-4908-AD2C-B1B915A7A447}" dt="2026-09-30T18:29:16.202" v="9844" actId="1076"/>
          <ac:picMkLst>
            <pc:docMk/>
            <pc:sldMk cId="3826225355" sldId="269"/>
            <ac:picMk id="13" creationId="{B6A3F5B3-78FF-C2AE-FD2C-FF6E4C010610}"/>
          </ac:picMkLst>
        </pc:picChg>
      </pc:sldChg>
      <pc:sldChg chg="addSp modSp new mod">
        <pc:chgData name="Kevin Ma" userId="ec314013063e2a62" providerId="LiveId" clId="{49DB57E9-981A-4908-AD2C-B1B915A7A447}" dt="2026-09-30T18:32:18.401" v="10040" actId="20577"/>
        <pc:sldMkLst>
          <pc:docMk/>
          <pc:sldMk cId="1862014285" sldId="270"/>
        </pc:sldMkLst>
        <pc:spChg chg="mod">
          <ac:chgData name="Kevin Ma" userId="ec314013063e2a62" providerId="LiveId" clId="{49DB57E9-981A-4908-AD2C-B1B915A7A447}" dt="2026-09-30T18:32:18.401" v="10040" actId="20577"/>
          <ac:spMkLst>
            <pc:docMk/>
            <pc:sldMk cId="1862014285" sldId="270"/>
            <ac:spMk id="2" creationId="{481EACF0-009F-C37C-11B7-9381EFA39C83}"/>
          </ac:spMkLst>
        </pc:spChg>
        <pc:spChg chg="mod">
          <ac:chgData name="Kevin Ma" userId="ec314013063e2a62" providerId="LiveId" clId="{49DB57E9-981A-4908-AD2C-B1B915A7A447}" dt="2026-09-15T20:12:55.049" v="4717" actId="1076"/>
          <ac:spMkLst>
            <pc:docMk/>
            <pc:sldMk cId="1862014285" sldId="270"/>
            <ac:spMk id="3" creationId="{2F6C4498-1AEF-E86B-B8C7-CEDAA63C895E}"/>
          </ac:spMkLst>
        </pc:spChg>
        <pc:spChg chg="add mod">
          <ac:chgData name="Kevin Ma" userId="ec314013063e2a62" providerId="LiveId" clId="{49DB57E9-981A-4908-AD2C-B1B915A7A447}" dt="2026-09-15T20:17:52.713" v="4805" actId="20577"/>
          <ac:spMkLst>
            <pc:docMk/>
            <pc:sldMk cId="1862014285" sldId="270"/>
            <ac:spMk id="10" creationId="{C6913BBA-598B-C547-EFAE-C4FFAC72F040}"/>
          </ac:spMkLst>
        </pc:spChg>
        <pc:graphicFrameChg chg="add mod modGraphic">
          <ac:chgData name="Kevin Ma" userId="ec314013063e2a62" providerId="LiveId" clId="{49DB57E9-981A-4908-AD2C-B1B915A7A447}" dt="2026-09-15T20:17:19.873" v="4756" actId="14100"/>
          <ac:graphicFrameMkLst>
            <pc:docMk/>
            <pc:sldMk cId="1862014285" sldId="270"/>
            <ac:graphicFrameMk id="5" creationId="{9671B39F-BEDE-47B7-59F4-07E6A6F49F83}"/>
          </ac:graphicFrameMkLst>
        </pc:graphicFrameChg>
        <pc:graphicFrameChg chg="add mod modGraphic">
          <ac:chgData name="Kevin Ma" userId="ec314013063e2a62" providerId="LiveId" clId="{49DB57E9-981A-4908-AD2C-B1B915A7A447}" dt="2026-09-15T20:13:17.467" v="4726" actId="1076"/>
          <ac:graphicFrameMkLst>
            <pc:docMk/>
            <pc:sldMk cId="1862014285" sldId="270"/>
            <ac:graphicFrameMk id="7" creationId="{E2E0712F-7D57-1CF2-796A-7C5EECC7A9CB}"/>
          </ac:graphicFrameMkLst>
        </pc:graphicFrameChg>
        <pc:graphicFrameChg chg="add mod modGraphic">
          <ac:chgData name="Kevin Ma" userId="ec314013063e2a62" providerId="LiveId" clId="{49DB57E9-981A-4908-AD2C-B1B915A7A447}" dt="2026-09-15T20:13:51.416" v="4736" actId="14734"/>
          <ac:graphicFrameMkLst>
            <pc:docMk/>
            <pc:sldMk cId="1862014285" sldId="270"/>
            <ac:graphicFrameMk id="9" creationId="{4CE9222F-199B-493F-9A45-E5369B4FB5F5}"/>
          </ac:graphicFrameMkLst>
        </pc:graphicFrameChg>
      </pc:sldChg>
      <pc:sldChg chg="addSp delSp modSp new mod modNotesTx">
        <pc:chgData name="Kevin Ma" userId="ec314013063e2a62" providerId="LiveId" clId="{49DB57E9-981A-4908-AD2C-B1B915A7A447}" dt="2026-09-30T18:33:46.569" v="10112" actId="478"/>
        <pc:sldMkLst>
          <pc:docMk/>
          <pc:sldMk cId="870526039" sldId="271"/>
        </pc:sldMkLst>
        <pc:spChg chg="del">
          <ac:chgData name="Kevin Ma" userId="ec314013063e2a62" providerId="LiveId" clId="{49DB57E9-981A-4908-AD2C-B1B915A7A447}" dt="2026-09-30T18:33:46.569" v="10112" actId="478"/>
          <ac:spMkLst>
            <pc:docMk/>
            <pc:sldMk cId="870526039" sldId="271"/>
            <ac:spMk id="2" creationId="{6CE05268-DB71-4CC2-BB02-12643AAD6BB4}"/>
          </ac:spMkLst>
        </pc:spChg>
        <pc:spChg chg="add mod">
          <ac:chgData name="Kevin Ma" userId="ec314013063e2a62" providerId="LiveId" clId="{49DB57E9-981A-4908-AD2C-B1B915A7A447}" dt="2026-09-30T18:33:08.170" v="10110" actId="1076"/>
          <ac:spMkLst>
            <pc:docMk/>
            <pc:sldMk cId="870526039" sldId="271"/>
            <ac:spMk id="7" creationId="{20DAB0BB-76A5-D2E8-B74F-C7D2057BC573}"/>
          </ac:spMkLst>
        </pc:spChg>
        <pc:graphicFrameChg chg="add mod modGraphic">
          <ac:chgData name="Kevin Ma" userId="ec314013063e2a62" providerId="LiveId" clId="{49DB57E9-981A-4908-AD2C-B1B915A7A447}" dt="2026-09-30T18:32:47.751" v="10078" actId="1076"/>
          <ac:graphicFrameMkLst>
            <pc:docMk/>
            <pc:sldMk cId="870526039" sldId="271"/>
            <ac:graphicFrameMk id="5" creationId="{5E859273-2B99-EB68-156F-E8F04646EA7B}"/>
          </ac:graphicFrameMkLst>
        </pc:graphicFrameChg>
        <pc:picChg chg="add mod">
          <ac:chgData name="Kevin Ma" userId="ec314013063e2a62" providerId="LiveId" clId="{49DB57E9-981A-4908-AD2C-B1B915A7A447}" dt="2026-09-30T18:33:09.393" v="10111" actId="1076"/>
          <ac:picMkLst>
            <pc:docMk/>
            <pc:sldMk cId="870526039" sldId="271"/>
            <ac:picMk id="4" creationId="{42561727-FB3C-284B-9FC5-E2896693ED6F}"/>
          </ac:picMkLst>
        </pc:picChg>
        <pc:picChg chg="add mod">
          <ac:chgData name="Kevin Ma" userId="ec314013063e2a62" providerId="LiveId" clId="{49DB57E9-981A-4908-AD2C-B1B915A7A447}" dt="2026-09-15T20:40:58.096" v="5391" actId="1076"/>
          <ac:picMkLst>
            <pc:docMk/>
            <pc:sldMk cId="870526039" sldId="271"/>
            <ac:picMk id="6" creationId="{DFE12890-E83A-0734-ADE7-1981AC0C1D1C}"/>
          </ac:picMkLst>
        </pc:picChg>
      </pc:sldChg>
      <pc:sldChg chg="modSp new del mod">
        <pc:chgData name="Kevin Ma" userId="ec314013063e2a62" providerId="LiveId" clId="{49DB57E9-981A-4908-AD2C-B1B915A7A447}" dt="2026-09-30T15:28:09.746" v="7642" actId="47"/>
        <pc:sldMkLst>
          <pc:docMk/>
          <pc:sldMk cId="181186374" sldId="272"/>
        </pc:sldMkLst>
      </pc:sldChg>
      <pc:sldChg chg="modSp new del mod">
        <pc:chgData name="Kevin Ma" userId="ec314013063e2a62" providerId="LiveId" clId="{49DB57E9-981A-4908-AD2C-B1B915A7A447}" dt="2026-09-30T15:28:09.746" v="7642" actId="47"/>
        <pc:sldMkLst>
          <pc:docMk/>
          <pc:sldMk cId="2025207050" sldId="273"/>
        </pc:sldMkLst>
      </pc:sldChg>
      <pc:sldChg chg="modSp new mod ord">
        <pc:chgData name="Kevin Ma" userId="ec314013063e2a62" providerId="LiveId" clId="{49DB57E9-981A-4908-AD2C-B1B915A7A447}" dt="2026-09-30T18:28:50.950" v="9839" actId="20577"/>
        <pc:sldMkLst>
          <pc:docMk/>
          <pc:sldMk cId="3294390217" sldId="274"/>
        </pc:sldMkLst>
        <pc:spChg chg="mod">
          <ac:chgData name="Kevin Ma" userId="ec314013063e2a62" providerId="LiveId" clId="{49DB57E9-981A-4908-AD2C-B1B915A7A447}" dt="2026-09-30T15:13:19.765" v="5999" actId="20577"/>
          <ac:spMkLst>
            <pc:docMk/>
            <pc:sldMk cId="3294390217" sldId="274"/>
            <ac:spMk id="2" creationId="{6F918EFA-0602-83D6-4786-0834F7C262CA}"/>
          </ac:spMkLst>
        </pc:spChg>
        <pc:spChg chg="mod">
          <ac:chgData name="Kevin Ma" userId="ec314013063e2a62" providerId="LiveId" clId="{49DB57E9-981A-4908-AD2C-B1B915A7A447}" dt="2026-09-30T18:28:50.950" v="9839" actId="20577"/>
          <ac:spMkLst>
            <pc:docMk/>
            <pc:sldMk cId="3294390217" sldId="274"/>
            <ac:spMk id="3" creationId="{454B181B-84CB-F2D9-4CCC-EBACDC466D7E}"/>
          </ac:spMkLst>
        </pc:spChg>
      </pc:sldChg>
      <pc:sldChg chg="new del">
        <pc:chgData name="Kevin Ma" userId="ec314013063e2a62" providerId="LiveId" clId="{49DB57E9-981A-4908-AD2C-B1B915A7A447}" dt="2026-09-30T15:12:40.109" v="5892" actId="47"/>
        <pc:sldMkLst>
          <pc:docMk/>
          <pc:sldMk cId="3718449475" sldId="274"/>
        </pc:sldMkLst>
      </pc:sldChg>
      <pc:sldChg chg="addSp modSp new mod">
        <pc:chgData name="Kevin Ma" userId="ec314013063e2a62" providerId="LiveId" clId="{49DB57E9-981A-4908-AD2C-B1B915A7A447}" dt="2026-09-30T15:24:13.579" v="7503" actId="20577"/>
        <pc:sldMkLst>
          <pc:docMk/>
          <pc:sldMk cId="896729490" sldId="275"/>
        </pc:sldMkLst>
        <pc:spChg chg="mod">
          <ac:chgData name="Kevin Ma" userId="ec314013063e2a62" providerId="LiveId" clId="{49DB57E9-981A-4908-AD2C-B1B915A7A447}" dt="2026-09-30T15:19:41.771" v="6958" actId="20577"/>
          <ac:spMkLst>
            <pc:docMk/>
            <pc:sldMk cId="896729490" sldId="275"/>
            <ac:spMk id="2" creationId="{31889DEA-328F-E134-4FBF-1BCE543EB568}"/>
          </ac:spMkLst>
        </pc:spChg>
        <pc:spChg chg="mod">
          <ac:chgData name="Kevin Ma" userId="ec314013063e2a62" providerId="LiveId" clId="{49DB57E9-981A-4908-AD2C-B1B915A7A447}" dt="2026-09-30T15:24:13.579" v="7503" actId="20577"/>
          <ac:spMkLst>
            <pc:docMk/>
            <pc:sldMk cId="896729490" sldId="275"/>
            <ac:spMk id="3" creationId="{E423CC7E-6F18-FA42-2806-9B4D01E01F68}"/>
          </ac:spMkLst>
        </pc:spChg>
        <pc:picChg chg="add mod">
          <ac:chgData name="Kevin Ma" userId="ec314013063e2a62" providerId="LiveId" clId="{49DB57E9-981A-4908-AD2C-B1B915A7A447}" dt="2026-09-30T15:22:27.079" v="7314" actId="1076"/>
          <ac:picMkLst>
            <pc:docMk/>
            <pc:sldMk cId="896729490" sldId="275"/>
            <ac:picMk id="4" creationId="{A5AFDCBC-86C7-BB7A-C9BA-3C24E1D67A3A}"/>
          </ac:picMkLst>
        </pc:picChg>
      </pc:sldChg>
      <pc:sldChg chg="modSp new mod ord">
        <pc:chgData name="Kevin Ma" userId="ec314013063e2a62" providerId="LiveId" clId="{49DB57E9-981A-4908-AD2C-B1B915A7A447}" dt="2026-09-30T18:15:53.541" v="8878" actId="20577"/>
        <pc:sldMkLst>
          <pc:docMk/>
          <pc:sldMk cId="547798005" sldId="276"/>
        </pc:sldMkLst>
        <pc:spChg chg="mod">
          <ac:chgData name="Kevin Ma" userId="ec314013063e2a62" providerId="LiveId" clId="{49DB57E9-981A-4908-AD2C-B1B915A7A447}" dt="2026-09-30T15:45:34.557" v="7884" actId="20577"/>
          <ac:spMkLst>
            <pc:docMk/>
            <pc:sldMk cId="547798005" sldId="276"/>
            <ac:spMk id="2" creationId="{BBCE4C86-9419-CAFE-A20A-6C1686FC05DE}"/>
          </ac:spMkLst>
        </pc:spChg>
        <pc:spChg chg="mod">
          <ac:chgData name="Kevin Ma" userId="ec314013063e2a62" providerId="LiveId" clId="{49DB57E9-981A-4908-AD2C-B1B915A7A447}" dt="2026-09-30T18:15:53.541" v="8878" actId="20577"/>
          <ac:spMkLst>
            <pc:docMk/>
            <pc:sldMk cId="547798005" sldId="276"/>
            <ac:spMk id="3" creationId="{DC378B6F-2724-1300-F8AE-1524577DA991}"/>
          </ac:spMkLst>
        </pc:spChg>
      </pc:sldChg>
      <pc:sldChg chg="addSp delSp modSp new mod">
        <pc:chgData name="Kevin Ma" userId="ec314013063e2a62" providerId="LiveId" clId="{49DB57E9-981A-4908-AD2C-B1B915A7A447}" dt="2026-09-30T18:27:35.962" v="9614" actId="20577"/>
        <pc:sldMkLst>
          <pc:docMk/>
          <pc:sldMk cId="1727538612" sldId="277"/>
        </pc:sldMkLst>
        <pc:spChg chg="mod">
          <ac:chgData name="Kevin Ma" userId="ec314013063e2a62" providerId="LiveId" clId="{49DB57E9-981A-4908-AD2C-B1B915A7A447}" dt="2026-09-30T18:26:17.318" v="9548" actId="1076"/>
          <ac:spMkLst>
            <pc:docMk/>
            <pc:sldMk cId="1727538612" sldId="277"/>
            <ac:spMk id="2" creationId="{20C76BD7-EEC6-D256-14C2-ED51E1509385}"/>
          </ac:spMkLst>
        </pc:spChg>
        <pc:spChg chg="mod">
          <ac:chgData name="Kevin Ma" userId="ec314013063e2a62" providerId="LiveId" clId="{49DB57E9-981A-4908-AD2C-B1B915A7A447}" dt="2026-09-30T18:27:35.962" v="9614" actId="20577"/>
          <ac:spMkLst>
            <pc:docMk/>
            <pc:sldMk cId="1727538612" sldId="277"/>
            <ac:spMk id="3" creationId="{8B2EB1D3-24A5-D24E-BF02-9C5B33F8E873}"/>
          </ac:spMkLst>
        </pc:spChg>
        <pc:spChg chg="add mod">
          <ac:chgData name="Kevin Ma" userId="ec314013063e2a62" providerId="LiveId" clId="{49DB57E9-981A-4908-AD2C-B1B915A7A447}" dt="2026-09-30T18:26:13.262" v="9547" actId="404"/>
          <ac:spMkLst>
            <pc:docMk/>
            <pc:sldMk cId="1727538612" sldId="277"/>
            <ac:spMk id="6" creationId="{49AB3475-7E18-E5D9-0892-9A11E7139297}"/>
          </ac:spMkLst>
        </pc:spChg>
        <pc:picChg chg="add del mod">
          <ac:chgData name="Kevin Ma" userId="ec314013063e2a62" providerId="LiveId" clId="{49DB57E9-981A-4908-AD2C-B1B915A7A447}" dt="2026-09-30T18:25:03.264" v="9501" actId="478"/>
          <ac:picMkLst>
            <pc:docMk/>
            <pc:sldMk cId="1727538612" sldId="277"/>
            <ac:picMk id="5" creationId="{E60A764F-B7B7-18F0-8FCC-6F1D03BB953E}"/>
          </ac:picMkLst>
        </pc:picChg>
      </pc:sldChg>
      <pc:sldChg chg="addSp delSp modSp new mod">
        <pc:chgData name="Kevin Ma" userId="ec314013063e2a62" providerId="LiveId" clId="{49DB57E9-981A-4908-AD2C-B1B915A7A447}" dt="2026-09-30T18:34:37.766" v="10120" actId="14100"/>
        <pc:sldMkLst>
          <pc:docMk/>
          <pc:sldMk cId="1758590093" sldId="278"/>
        </pc:sldMkLst>
        <pc:spChg chg="mod">
          <ac:chgData name="Kevin Ma" userId="ec314013063e2a62" providerId="LiveId" clId="{49DB57E9-981A-4908-AD2C-B1B915A7A447}" dt="2026-09-30T18:09:51.261" v="8299" actId="20577"/>
          <ac:spMkLst>
            <pc:docMk/>
            <pc:sldMk cId="1758590093" sldId="278"/>
            <ac:spMk id="2" creationId="{B44552CE-40B2-BFFB-CF8F-654D05A7A88B}"/>
          </ac:spMkLst>
        </pc:spChg>
        <pc:spChg chg="add del">
          <ac:chgData name="Kevin Ma" userId="ec314013063e2a62" providerId="LiveId" clId="{49DB57E9-981A-4908-AD2C-B1B915A7A447}" dt="2026-09-30T18:10:04.689" v="8308"/>
          <ac:spMkLst>
            <pc:docMk/>
            <pc:sldMk cId="1758590093" sldId="278"/>
            <ac:spMk id="3" creationId="{CF3806B9-286C-6FF7-852F-FB6462583C85}"/>
          </ac:spMkLst>
        </pc:spChg>
        <pc:spChg chg="add mod">
          <ac:chgData name="Kevin Ma" userId="ec314013063e2a62" providerId="LiveId" clId="{49DB57E9-981A-4908-AD2C-B1B915A7A447}" dt="2026-09-30T18:34:33.978" v="10118" actId="1076"/>
          <ac:spMkLst>
            <pc:docMk/>
            <pc:sldMk cId="1758590093" sldId="278"/>
            <ac:spMk id="9" creationId="{451C8E96-B0BF-30B0-22C8-0448993F2D96}"/>
          </ac:spMkLst>
        </pc:spChg>
        <pc:spChg chg="add mod">
          <ac:chgData name="Kevin Ma" userId="ec314013063e2a62" providerId="LiveId" clId="{49DB57E9-981A-4908-AD2C-B1B915A7A447}" dt="2026-09-30T18:34:37.766" v="10120" actId="14100"/>
          <ac:spMkLst>
            <pc:docMk/>
            <pc:sldMk cId="1758590093" sldId="278"/>
            <ac:spMk id="11" creationId="{8F82AF0B-29D2-FFFA-2908-74B9F7C39909}"/>
          </ac:spMkLst>
        </pc:spChg>
        <pc:graphicFrameChg chg="add mod">
          <ac:chgData name="Kevin Ma" userId="ec314013063e2a62" providerId="LiveId" clId="{49DB57E9-981A-4908-AD2C-B1B915A7A447}" dt="2026-09-30T18:09:58.526" v="8303"/>
          <ac:graphicFrameMkLst>
            <pc:docMk/>
            <pc:sldMk cId="1758590093" sldId="278"/>
            <ac:graphicFrameMk id="4" creationId="{721B8AE0-DAF6-EB90-7FC2-7C38569500D3}"/>
          </ac:graphicFrameMkLst>
        </pc:graphicFrameChg>
        <pc:graphicFrameChg chg="add mod">
          <ac:chgData name="Kevin Ma" userId="ec314013063e2a62" providerId="LiveId" clId="{49DB57E9-981A-4908-AD2C-B1B915A7A447}" dt="2026-09-30T18:10:02.418" v="8305"/>
          <ac:graphicFrameMkLst>
            <pc:docMk/>
            <pc:sldMk cId="1758590093" sldId="278"/>
            <ac:graphicFrameMk id="5" creationId="{1CA8CE84-F123-A140-F4A5-BB73B8360833}"/>
          </ac:graphicFrameMkLst>
        </pc:graphicFrameChg>
        <pc:graphicFrameChg chg="add mod">
          <ac:chgData name="Kevin Ma" userId="ec314013063e2a62" providerId="LiveId" clId="{49DB57E9-981A-4908-AD2C-B1B915A7A447}" dt="2026-09-30T18:10:04.609" v="8307"/>
          <ac:graphicFrameMkLst>
            <pc:docMk/>
            <pc:sldMk cId="1758590093" sldId="278"/>
            <ac:graphicFrameMk id="6" creationId="{3C117374-7001-BADC-2FC6-0174600B71DC}"/>
          </ac:graphicFrameMkLst>
        </pc:graphicFrameChg>
        <pc:graphicFrameChg chg="add mod modGraphic">
          <ac:chgData name="Kevin Ma" userId="ec314013063e2a62" providerId="LiveId" clId="{49DB57E9-981A-4908-AD2C-B1B915A7A447}" dt="2026-09-30T18:10:55.899" v="8315"/>
          <ac:graphicFrameMkLst>
            <pc:docMk/>
            <pc:sldMk cId="1758590093" sldId="278"/>
            <ac:graphicFrameMk id="7" creationId="{0CF7597E-9C79-C35A-867B-8768092FFA90}"/>
          </ac:graphicFrameMkLst>
        </pc:graphicFrameChg>
        <pc:graphicFrameChg chg="add mod modGraphic">
          <ac:chgData name="Kevin Ma" userId="ec314013063e2a62" providerId="LiveId" clId="{49DB57E9-981A-4908-AD2C-B1B915A7A447}" dt="2026-09-30T18:11:11.706" v="8318" actId="113"/>
          <ac:graphicFrameMkLst>
            <pc:docMk/>
            <pc:sldMk cId="1758590093" sldId="278"/>
            <ac:graphicFrameMk id="8" creationId="{55A148B6-0B79-51AA-2863-11F4938F20E4}"/>
          </ac:graphicFrameMkLst>
        </pc:graphicFrameChg>
      </pc:sldChg>
      <pc:sldChg chg="modSp new mod">
        <pc:chgData name="Kevin Ma" userId="ec314013063e2a62" providerId="LiveId" clId="{49DB57E9-981A-4908-AD2C-B1B915A7A447}" dt="2026-09-30T20:06:38.003" v="10657" actId="20577"/>
        <pc:sldMkLst>
          <pc:docMk/>
          <pc:sldMk cId="904981793" sldId="279"/>
        </pc:sldMkLst>
        <pc:spChg chg="mod">
          <ac:chgData name="Kevin Ma" userId="ec314013063e2a62" providerId="LiveId" clId="{49DB57E9-981A-4908-AD2C-B1B915A7A447}" dt="2026-09-30T18:42:24.483" v="10412" actId="20577"/>
          <ac:spMkLst>
            <pc:docMk/>
            <pc:sldMk cId="904981793" sldId="279"/>
            <ac:spMk id="2" creationId="{4C606DC9-C701-FD04-4A87-9274227FFDFB}"/>
          </ac:spMkLst>
        </pc:spChg>
        <pc:spChg chg="mod">
          <ac:chgData name="Kevin Ma" userId="ec314013063e2a62" providerId="LiveId" clId="{49DB57E9-981A-4908-AD2C-B1B915A7A447}" dt="2026-09-30T20:06:38.003" v="10657" actId="20577"/>
          <ac:spMkLst>
            <pc:docMk/>
            <pc:sldMk cId="904981793" sldId="279"/>
            <ac:spMk id="3" creationId="{2E513835-6F2B-8A57-6594-CF7916FA8928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D1539E3-291C-4056-A903-588E2D1F79A5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B0F6588-46AC-4712-88F4-FFBBE96D4B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67588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0F6588-46AC-4712-88F4-FFBBE96D4B96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68803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Get the overlap </a:t>
            </a:r>
            <a:r>
              <a:rPr lang="en-US" b="1" dirty="0" err="1"/>
              <a:t>HHT+genetics</a:t>
            </a:r>
            <a:endParaRPr lang="en-US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0F6588-46AC-4712-88F4-FFBBE96D4B96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749205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Shows value of centers of excellence (AL, MA)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0F6588-46AC-4712-88F4-FFBBE96D4B96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016724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E6E4AB-D08D-717B-A8BD-2A2E83E135F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833DA27-A718-1415-FE19-49A16FFFC1B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4BCB2F-499A-8317-ECD6-F014E58BD0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2E19B2-AA34-4430-B25C-62C66CA7E415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AE21E5-3F3A-B928-30DD-A0F144DB7C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26E3EF-B820-0774-7A02-4975F1CD1D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C6FC50-1DAD-49B6-B08C-B9458E3F6B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59223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A9560E-F70E-3A6F-44FA-D6EC742876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91E9A7-F2D4-3ABF-4E63-500E51317E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3E922E-2C79-B60C-FF27-8AE07112C3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2E19B2-AA34-4430-B25C-62C66CA7E415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8100DA-2EA8-7A24-0026-30BA4F81E7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FF07F3-76AD-BF21-48CA-37E932DA14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C6FC50-1DAD-49B6-B08C-B9458E3F6B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84968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02276F-C4AA-40A2-91EA-4F489FCD32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491D9D-8A42-9382-AF46-2851B40196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F3C4FD-FC34-73CF-6860-37108F396F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2E19B2-AA34-4430-B25C-62C66CA7E415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160F25-3CBC-96F2-B58A-3C4DD15873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CEB403-A673-983E-CBE1-9369BE665D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C6FC50-1DAD-49B6-B08C-B9458E3F6B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35133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4B513C-C274-C106-B870-6D52018EB0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9DFEA0-D645-C1E5-62CD-7F6A3FE72EB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7AA5CC1-84FE-4E74-6339-55BF9600BCB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E6B579F-B7A8-BDDD-15F4-BDBB6414DA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2E19B2-AA34-4430-B25C-62C66CA7E415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AA2014C-6882-C8EC-0B51-565DC6951F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5099A27-4DCF-C890-7D18-C31D211562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C6FC50-1DAD-49B6-B08C-B9458E3F6B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82073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B74139-C69B-4FDB-2F8B-42F6C33D20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0D19F8-DB16-1768-2088-3786854A05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862682F-6C9A-CA7D-16DC-6A50379DC25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3C43A9B-1A5C-EC21-2BAE-C4708C267EE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11C880A-AFDB-1C77-0759-AE10B5F8A7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41D3A39-4AE6-5FDA-8135-14E1E29750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2E19B2-AA34-4430-B25C-62C66CA7E415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C2DAF1B-48D2-6272-82CD-81A87421AD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215F5BE-8AF9-82AC-6E36-E44D761EA6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C6FC50-1DAD-49B6-B08C-B9458E3F6B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50726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A4D35E-C24A-CED1-7AD3-43245B3AC6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D34B611-DDE1-4BF1-870C-964B627AC3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2E19B2-AA34-4430-B25C-62C66CA7E415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7121AA9-93A2-6BB8-084F-36EAA71BB4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D81AADE-1DC2-C470-E37A-393832EA64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C6FC50-1DAD-49B6-B08C-B9458E3F6B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26588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BAC6FF3-6AD9-34E0-FA63-58C8E41CB6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2E19B2-AA34-4430-B25C-62C66CA7E415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81F6750-6588-133E-DAD9-58475E60A9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5E1502-C353-D781-A635-56E31551B2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C6FC50-1DAD-49B6-B08C-B9458E3F6B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15240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03EBCE-BAE4-1B22-11CB-2F7104558A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CDCB71-C846-E91D-EBD9-8DB4BA612D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FEFA539-7AA5-C8D0-3B58-47FFC389882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8886686-3A1C-8590-EDBA-25E9CD6514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2E19B2-AA34-4430-B25C-62C66CA7E415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1561D30-E075-C9EF-B3D6-5B3422CCFE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E29250-3643-11A8-E38A-E7768C4913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C6FC50-1DAD-49B6-B08C-B9458E3F6B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69446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F1484-3633-27A5-82F9-A91DB4F1B8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7D7C64A-C984-4579-8000-44F59BEFECC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ED00B7C-70CC-5A7F-A885-70369C35DA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7D39ACA-A305-46FB-F1FA-06AF587713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2E19B2-AA34-4430-B25C-62C66CA7E415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7984796-F94D-F6C1-C49C-9FC4A3FE9A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305AC7-0A51-494E-7FA7-B15E12F461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C6FC50-1DAD-49B6-B08C-B9458E3F6B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94025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5177C0-E2B7-0706-1297-B7F8CCA249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641BB84-9594-1ED6-EC44-DACA1AA74CB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7838BF-B214-A6E2-C0D0-EFA1415B26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2E19B2-AA34-4430-B25C-62C66CA7E415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035B81-4E48-B388-7E65-22808C0EB4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3D67E2-0338-BEDA-066C-0AFAA89F9C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C6FC50-1DAD-49B6-B08C-B9458E3F6B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99015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07C6D24-7195-C142-E9FD-3F2D6B8DEAA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58CC91A-069B-32EF-CA05-2B76AF85513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0DE380-DBEA-5B9B-2643-7BFAB61096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2E19B2-AA34-4430-B25C-62C66CA7E415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3E4B75-D962-3D4C-0749-307B024C47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FEAE01-0A55-6D48-37BC-6839EA4505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C6FC50-1DAD-49B6-B08C-B9458E3F6B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98445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0CC5665-12DC-AF85-EBF3-E0BE55C88F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55A3F95-97B4-FC5A-6A41-58BD7A1F69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AB0936-C0A5-6C69-5E53-55059606F48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02E19B2-AA34-4430-B25C-62C66CA7E415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29C271-1100-D7FE-36EA-BCF547183A4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19D8E9-1C79-9233-7D58-E72BEEACAAE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CC6FC50-1DAD-49B6-B08C-B9458E3F6B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80520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5A33CD-7E67-9F44-941B-4A019D24F6C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Hereditary Hemorrhagic Telangiectasia in the All of Us Database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78B5224-8B95-70EC-FEBC-E99A6402751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9/30/26</a:t>
            </a:r>
          </a:p>
          <a:p>
            <a:r>
              <a:rPr lang="en-US" dirty="0"/>
              <a:t>Kevin Ma</a:t>
            </a:r>
          </a:p>
          <a:p>
            <a:r>
              <a:rPr lang="en-US" dirty="0" err="1"/>
              <a:t>Overdevest</a:t>
            </a:r>
            <a:r>
              <a:rPr lang="en-US" dirty="0"/>
              <a:t> Lab</a:t>
            </a:r>
          </a:p>
        </p:txBody>
      </p:sp>
    </p:spTree>
    <p:extLst>
      <p:ext uri="{BB962C8B-B14F-4D97-AF65-F5344CB8AC3E}">
        <p14:creationId xmlns:p14="http://schemas.microsoft.com/office/powerpoint/2010/main" val="21402172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AC063E-B258-5473-5F51-FE1E4B44C6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890588"/>
            <a:ext cx="10515600" cy="909637"/>
          </a:xfrm>
        </p:spPr>
        <p:txBody>
          <a:bodyPr>
            <a:normAutofit fontScale="90000"/>
          </a:bodyPr>
          <a:lstStyle/>
          <a:p>
            <a:r>
              <a:rPr lang="en-US" dirty="0"/>
              <a:t>Table of Contents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FD3AED-2B3C-A3C6-F776-F165193DC7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2095501"/>
            <a:ext cx="10515600" cy="3994150"/>
          </a:xfrm>
        </p:spPr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US" dirty="0"/>
              <a:t>Background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Objective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Methods/The All of Us Database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Barrier: low rate of pathogenic variants in HHT cohort?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Barrier: what mutations are “pathogenic”?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Where are HHT patients located?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Next steps, and 2 potential paper angles</a:t>
            </a:r>
          </a:p>
        </p:txBody>
      </p:sp>
    </p:spTree>
    <p:extLst>
      <p:ext uri="{BB962C8B-B14F-4D97-AF65-F5344CB8AC3E}">
        <p14:creationId xmlns:p14="http://schemas.microsoft.com/office/powerpoint/2010/main" val="41640614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918EFA-0602-83D6-4786-0834F7C262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Background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4B181B-84CB-F2D9-4CCC-EBACDC466D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Hereditary hemorrhagic telangiectasia (HHT) is a genetic bleeding disorder characterized by the formation of abnormal blood vessels in various parts of the body.</a:t>
            </a:r>
          </a:p>
          <a:p>
            <a:pPr lvl="1"/>
            <a:r>
              <a:rPr lang="en-US" dirty="0"/>
              <a:t>Caused by mutations along the ALK/</a:t>
            </a:r>
          </a:p>
          <a:p>
            <a:pPr lvl="1"/>
            <a:r>
              <a:rPr lang="en-US" dirty="0"/>
              <a:t>Diagnosed by the following </a:t>
            </a:r>
            <a:r>
              <a:rPr lang="en-US" b="1" dirty="0"/>
              <a:t>Curacao criteria (3+ = definite, 2 = possible)</a:t>
            </a:r>
            <a:r>
              <a:rPr lang="en-US" dirty="0"/>
              <a:t>:</a:t>
            </a:r>
          </a:p>
          <a:p>
            <a:pPr lvl="2"/>
            <a:r>
              <a:rPr lang="en-US" dirty="0"/>
              <a:t>Recurrent epistaxis (most common)</a:t>
            </a:r>
          </a:p>
          <a:p>
            <a:pPr lvl="2"/>
            <a:r>
              <a:rPr lang="en-US" dirty="0"/>
              <a:t>Visceral arteriovenous malformations (AVMs)</a:t>
            </a:r>
          </a:p>
          <a:p>
            <a:pPr lvl="2"/>
            <a:r>
              <a:rPr lang="en-US" dirty="0"/>
              <a:t>Mucocutaneous telangiectasias</a:t>
            </a:r>
          </a:p>
          <a:p>
            <a:pPr lvl="2"/>
            <a:r>
              <a:rPr lang="en-US" dirty="0"/>
              <a:t>First-degree relative diagnosed with HHT</a:t>
            </a:r>
          </a:p>
          <a:p>
            <a:pPr lvl="1"/>
            <a:r>
              <a:rPr lang="en-US" dirty="0"/>
              <a:t>Autosomal dominant inheritance with age-dependent penetrance and variable expressivity</a:t>
            </a:r>
          </a:p>
          <a:p>
            <a:pPr lvl="1"/>
            <a:r>
              <a:rPr lang="en-US" dirty="0"/>
              <a:t>“Rare” disease: estimated prevalence of 1 in 5,000</a:t>
            </a:r>
          </a:p>
          <a:p>
            <a:pPr lvl="2"/>
            <a:r>
              <a:rPr lang="en-US" dirty="0"/>
              <a:t>Recent screenings of large-scale genomic databases (</a:t>
            </a:r>
            <a:r>
              <a:rPr lang="en-US" dirty="0" err="1"/>
              <a:t>gnomAD</a:t>
            </a:r>
            <a:r>
              <a:rPr lang="en-US" dirty="0"/>
              <a:t>), All of Us, Regeneron have placed it to be up to 12x more prevalent</a:t>
            </a:r>
          </a:p>
          <a:p>
            <a:pPr lvl="1"/>
            <a:r>
              <a:rPr lang="en-US" dirty="0"/>
              <a:t>Many complications: intracranial/pulmonary/GI hemorrhage, seizures, migraine, anemia, thromboembolic events, aneurysms</a:t>
            </a:r>
          </a:p>
        </p:txBody>
      </p:sp>
    </p:spTree>
    <p:extLst>
      <p:ext uri="{BB962C8B-B14F-4D97-AF65-F5344CB8AC3E}">
        <p14:creationId xmlns:p14="http://schemas.microsoft.com/office/powerpoint/2010/main" val="32943902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889DEA-328F-E134-4FBF-1BCE543EB5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Genetics of HHT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23CC7E-6F18-FA42-2806-9B4D01E01F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454149"/>
            <a:ext cx="6457950" cy="4918075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Mutations in multiple genes have been linked to HHT. ~90-95% of patients with clinical HHT will have a variant in one of these genes. A single hit is enough to cause haploinsufficiency.</a:t>
            </a:r>
          </a:p>
          <a:p>
            <a:r>
              <a:rPr lang="en-US" dirty="0"/>
              <a:t>Two genes cause &gt;&gt;90% of cases:</a:t>
            </a:r>
          </a:p>
          <a:p>
            <a:pPr lvl="1"/>
            <a:r>
              <a:rPr lang="en-US" dirty="0"/>
              <a:t>ENG/Endoglin</a:t>
            </a:r>
          </a:p>
          <a:p>
            <a:pPr lvl="1"/>
            <a:r>
              <a:rPr lang="en-US" dirty="0"/>
              <a:t>ACVRL1/ALK1/Activin receptor-like kinase/Serine/threonine-protein kinase receptor R3</a:t>
            </a:r>
          </a:p>
          <a:p>
            <a:r>
              <a:rPr lang="en-US" dirty="0"/>
              <a:t>Much less common:</a:t>
            </a:r>
          </a:p>
          <a:p>
            <a:pPr lvl="1"/>
            <a:r>
              <a:rPr lang="en-US" dirty="0"/>
              <a:t>SMAD4</a:t>
            </a:r>
          </a:p>
          <a:p>
            <a:pPr lvl="1"/>
            <a:r>
              <a:rPr lang="en-US" dirty="0"/>
              <a:t>GDF2</a:t>
            </a:r>
          </a:p>
          <a:p>
            <a:r>
              <a:rPr lang="en-US" dirty="0"/>
              <a:t>These are along the </a:t>
            </a:r>
            <a:r>
              <a:rPr lang="en-US" dirty="0" err="1"/>
              <a:t>TGFb</a:t>
            </a:r>
            <a:r>
              <a:rPr lang="en-US" dirty="0"/>
              <a:t>/BMP signaling pathway.</a:t>
            </a:r>
          </a:p>
          <a:p>
            <a:pPr lvl="1"/>
            <a:endParaRPr lang="en-US" dirty="0"/>
          </a:p>
        </p:txBody>
      </p:sp>
      <p:pic>
        <p:nvPicPr>
          <p:cNvPr id="4" name="Picture 3" descr="Fig. 1">
            <a:extLst>
              <a:ext uri="{FF2B5EF4-FFF2-40B4-BE49-F238E27FC236}">
                <a16:creationId xmlns:a16="http://schemas.microsoft.com/office/drawing/2014/main" id="{A5AFDCBC-86C7-BB7A-C9BA-3C24E1D67A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51973" y="0"/>
            <a:ext cx="501270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67294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C76BD7-EEC6-D256-14C2-ED51E15093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213836"/>
            <a:ext cx="10515600" cy="1325563"/>
          </a:xfrm>
        </p:spPr>
        <p:txBody>
          <a:bodyPr/>
          <a:lstStyle/>
          <a:p>
            <a:r>
              <a:rPr lang="en-US" dirty="0"/>
              <a:t>Objective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2EB1D3-24A5-D24E-BF02-9C5B33F8E8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6700" y="1377950"/>
            <a:ext cx="10515600" cy="4351338"/>
          </a:xfrm>
        </p:spPr>
        <p:txBody>
          <a:bodyPr/>
          <a:lstStyle/>
          <a:p>
            <a:r>
              <a:rPr lang="en-US" dirty="0"/>
              <a:t>What is the true prevalence of HHT?</a:t>
            </a:r>
          </a:p>
          <a:p>
            <a:r>
              <a:rPr lang="en-US" dirty="0"/>
              <a:t>Hypothesis: there is a large population of undiagnosed individuals who harbor the mutation and have never been diagnosed—a sort of genetic “Lost Generation”.</a:t>
            </a:r>
          </a:p>
          <a:p>
            <a:pPr lvl="1"/>
            <a:r>
              <a:rPr lang="en-US" dirty="0"/>
              <a:t>Clinical significance: preventable morbidity including intracranial hemorrhage</a:t>
            </a:r>
          </a:p>
          <a:p>
            <a:pPr lvl="1"/>
            <a:r>
              <a:rPr lang="en-US" dirty="0"/>
              <a:t>There is a mean interval between first symptoms and diagnosis of over two decades</a:t>
            </a:r>
            <a:r>
              <a:rPr lang="en-US" baseline="30000" dirty="0"/>
              <a:t>1</a:t>
            </a:r>
            <a:r>
              <a:rPr lang="en-US" dirty="0"/>
              <a:t>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9AB3475-7E18-E5D9-0892-9A11E7139297}"/>
              </a:ext>
            </a:extLst>
          </p:cNvPr>
          <p:cNvSpPr txBox="1"/>
          <p:nvPr/>
        </p:nvSpPr>
        <p:spPr>
          <a:xfrm>
            <a:off x="838199" y="5905500"/>
            <a:ext cx="9839325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aseline="30000" dirty="0"/>
              <a:t>1</a:t>
            </a:r>
            <a:r>
              <a:rPr lang="en-US" sz="1400" dirty="0"/>
              <a:t>Al-Samkari et al. </a:t>
            </a:r>
            <a:r>
              <a:rPr lang="en-US" sz="1400" b="1" dirty="0"/>
              <a:t>Clinical spectrum of hereditary hemorrhagic telangiectasia: data from the Comprehensive HHT Outcomes Registry of the US (CHORUS)</a:t>
            </a:r>
          </a:p>
          <a:p>
            <a:r>
              <a:rPr lang="en-US" sz="1400" dirty="0"/>
              <a:t>Blood. 2026 Mar.</a:t>
            </a:r>
          </a:p>
        </p:txBody>
      </p:sp>
    </p:spTree>
    <p:extLst>
      <p:ext uri="{BB962C8B-B14F-4D97-AF65-F5344CB8AC3E}">
        <p14:creationId xmlns:p14="http://schemas.microsoft.com/office/powerpoint/2010/main" val="17275386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CE4C86-9419-CAFE-A20A-6C1686FC05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Methods/The All of Us (AoU) Database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378B6F-2724-1300-F8AE-1524577DA9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486275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Retrospective, observational, using AoU: NIH-run research program with recruitment centers across the U.S.</a:t>
            </a:r>
          </a:p>
          <a:p>
            <a:r>
              <a:rPr lang="en-US" dirty="0"/>
              <a:t>747k participants: surveys, EMR, and…</a:t>
            </a:r>
          </a:p>
          <a:p>
            <a:r>
              <a:rPr lang="en-US" b="1" dirty="0"/>
              <a:t>Genomic data</a:t>
            </a:r>
          </a:p>
          <a:p>
            <a:pPr lvl="1"/>
            <a:r>
              <a:rPr lang="en-US" dirty="0"/>
              <a:t>Short-read whole genome sequencing (</a:t>
            </a:r>
            <a:r>
              <a:rPr lang="en-US" dirty="0" err="1"/>
              <a:t>srWGS</a:t>
            </a:r>
            <a:r>
              <a:rPr lang="en-US" dirty="0"/>
              <a:t>): 535,662</a:t>
            </a:r>
          </a:p>
          <a:p>
            <a:pPr lvl="2"/>
            <a:r>
              <a:rPr lang="en-US" dirty="0"/>
              <a:t>SNP &amp; Indel variant data in Hail Variant Dataset (VDS) format</a:t>
            </a:r>
          </a:p>
          <a:p>
            <a:pPr lvl="3"/>
            <a:r>
              <a:rPr lang="en-US" dirty="0" err="1"/>
              <a:t>ClinVar</a:t>
            </a:r>
            <a:r>
              <a:rPr lang="en-US" dirty="0"/>
              <a:t>, Variant Annotation</a:t>
            </a:r>
          </a:p>
          <a:p>
            <a:pPr lvl="1"/>
            <a:r>
              <a:rPr lang="en-US" dirty="0"/>
              <a:t>Long-read WGS: 14,500</a:t>
            </a:r>
          </a:p>
          <a:p>
            <a:pPr lvl="1"/>
            <a:r>
              <a:rPr lang="en-US" dirty="0"/>
              <a:t>Structural variants: 96,000</a:t>
            </a:r>
          </a:p>
          <a:p>
            <a:pPr lvl="1"/>
            <a:r>
              <a:rPr lang="en-US" dirty="0"/>
              <a:t>Genetic ancestry</a:t>
            </a:r>
          </a:p>
          <a:p>
            <a:r>
              <a:rPr lang="en-US" dirty="0"/>
              <a:t>Potentially ideal dataset for large-scale HHT exploration.</a:t>
            </a:r>
          </a:p>
          <a:p>
            <a:r>
              <a:rPr lang="en-US" dirty="0"/>
              <a:t>Has only really been used by Gaetani et al. </a:t>
            </a:r>
          </a:p>
        </p:txBody>
      </p:sp>
    </p:spTree>
    <p:extLst>
      <p:ext uri="{BB962C8B-B14F-4D97-AF65-F5344CB8AC3E}">
        <p14:creationId xmlns:p14="http://schemas.microsoft.com/office/powerpoint/2010/main" val="5477980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4552CE-40B2-BFFB-CF8F-654D05A7A8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Barrier: low rate of pathogenic variants in HHT cohort?</a:t>
            </a:r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0CF7597E-9C79-C35A-867B-8768092FFA9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7451455"/>
              </p:ext>
            </p:extLst>
          </p:nvPr>
        </p:nvGraphicFramePr>
        <p:xfrm>
          <a:off x="356803" y="2052379"/>
          <a:ext cx="6222999" cy="9525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905972">
                  <a:extLst>
                    <a:ext uri="{9D8B030D-6E8A-4147-A177-3AD203B41FA5}">
                      <a16:colId xmlns:a16="http://schemas.microsoft.com/office/drawing/2014/main" val="4106911007"/>
                    </a:ext>
                  </a:extLst>
                </a:gridCol>
                <a:gridCol w="1905972">
                  <a:extLst>
                    <a:ext uri="{9D8B030D-6E8A-4147-A177-3AD203B41FA5}">
                      <a16:colId xmlns:a16="http://schemas.microsoft.com/office/drawing/2014/main" val="4117736569"/>
                    </a:ext>
                  </a:extLst>
                </a:gridCol>
                <a:gridCol w="1143583">
                  <a:extLst>
                    <a:ext uri="{9D8B030D-6E8A-4147-A177-3AD203B41FA5}">
                      <a16:colId xmlns:a16="http://schemas.microsoft.com/office/drawing/2014/main" val="1984543832"/>
                    </a:ext>
                  </a:extLst>
                </a:gridCol>
                <a:gridCol w="1267472">
                  <a:extLst>
                    <a:ext uri="{9D8B030D-6E8A-4147-A177-3AD203B41FA5}">
                      <a16:colId xmlns:a16="http://schemas.microsoft.com/office/drawing/2014/main" val="86936809"/>
                    </a:ext>
                  </a:extLst>
                </a:gridCol>
              </a:tblGrid>
              <a:tr h="190500">
                <a:tc gridSpan="4"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1" u="none" strike="noStrike" dirty="0">
                          <a:effectLst/>
                        </a:rPr>
                        <a:t>DIAGNOSIS VS. VARIANT STATUS</a:t>
                      </a:r>
                      <a:endParaRPr lang="en-US" sz="1100" b="1" i="0" u="none" strike="noStrike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47198143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1" u="none" strike="noStrike" dirty="0">
                          <a:effectLst/>
                        </a:rPr>
                        <a:t>HHT diagnosis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1" u="none" strike="noStrike" dirty="0">
                          <a:effectLst/>
                        </a:rPr>
                        <a:t>Qualifying variant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1" u="none" strike="noStrike" dirty="0">
                          <a:effectLst/>
                        </a:rPr>
                        <a:t>People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1" u="none" strike="noStrike" dirty="0">
                          <a:effectLst/>
                        </a:rPr>
                        <a:t>Cohort share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4856586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Yes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Yes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38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2.9%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2240162220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Yes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No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222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17.0%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664700796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No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Yes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1,047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100" u="none" strike="noStrike" dirty="0">
                          <a:effectLst/>
                        </a:rPr>
                        <a:t>80.1%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249995136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55A148B6-0B79-51AA-2863-11F4938F20E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05859684"/>
              </p:ext>
            </p:extLst>
          </p:nvPr>
        </p:nvGraphicFramePr>
        <p:xfrm>
          <a:off x="356802" y="3366570"/>
          <a:ext cx="6222999" cy="196743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905972">
                  <a:extLst>
                    <a:ext uri="{9D8B030D-6E8A-4147-A177-3AD203B41FA5}">
                      <a16:colId xmlns:a16="http://schemas.microsoft.com/office/drawing/2014/main" val="3043765239"/>
                    </a:ext>
                  </a:extLst>
                </a:gridCol>
                <a:gridCol w="1905972">
                  <a:extLst>
                    <a:ext uri="{9D8B030D-6E8A-4147-A177-3AD203B41FA5}">
                      <a16:colId xmlns:a16="http://schemas.microsoft.com/office/drawing/2014/main" val="3363820113"/>
                    </a:ext>
                  </a:extLst>
                </a:gridCol>
                <a:gridCol w="1143583">
                  <a:extLst>
                    <a:ext uri="{9D8B030D-6E8A-4147-A177-3AD203B41FA5}">
                      <a16:colId xmlns:a16="http://schemas.microsoft.com/office/drawing/2014/main" val="3712398840"/>
                    </a:ext>
                  </a:extLst>
                </a:gridCol>
                <a:gridCol w="1267472">
                  <a:extLst>
                    <a:ext uri="{9D8B030D-6E8A-4147-A177-3AD203B41FA5}">
                      <a16:colId xmlns:a16="http://schemas.microsoft.com/office/drawing/2014/main" val="3218358828"/>
                    </a:ext>
                  </a:extLst>
                </a:gridCol>
              </a:tblGrid>
              <a:tr h="252930">
                <a:tc gridSpan="4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1" u="none" strike="noStrike" dirty="0">
                          <a:effectLst/>
                        </a:rPr>
                        <a:t>CARRIER COUNTS BY GENE</a:t>
                      </a:r>
                      <a:endParaRPr lang="en-US" sz="1100" b="1" i="0" u="none" strike="noStrike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05235949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1" u="none" strike="noStrike" dirty="0">
                          <a:effectLst/>
                        </a:rPr>
                        <a:t>Gene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1" u="none" strike="noStrike" dirty="0">
                          <a:effectLst/>
                        </a:rPr>
                        <a:t>Carriers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1" u="none" strike="noStrike" dirty="0">
                          <a:effectLst/>
                        </a:rPr>
                        <a:t>Total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47576974"/>
                  </a:ext>
                </a:extLst>
              </a:tr>
              <a:tr h="9525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0" u="none" strike="noStrike" dirty="0">
                          <a:effectLst/>
                        </a:rPr>
                        <a:t>ENG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794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100" u="none" strike="noStrike" dirty="0">
                          <a:effectLst/>
                        </a:rPr>
                        <a:t>1,085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2711277656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0" u="none" strike="noStrike" dirty="0">
                          <a:effectLst/>
                        </a:rPr>
                        <a:t>ACVRL1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246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97860421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0" u="none" strike="noStrike" dirty="0">
                          <a:effectLst/>
                        </a:rPr>
                        <a:t>SMAD4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9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763355803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0" u="none" strike="noStrike" dirty="0">
                          <a:effectLst/>
                        </a:rPr>
                        <a:t>GDF2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36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507900854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451C8E96-B0BF-30B0-22C8-0448993F2D96}"/>
              </a:ext>
            </a:extLst>
          </p:cNvPr>
          <p:cNvSpPr txBox="1"/>
          <p:nvPr/>
        </p:nvSpPr>
        <p:spPr>
          <a:xfrm>
            <a:off x="6819900" y="1228725"/>
            <a:ext cx="361950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Total n with genetic variants (</a:t>
            </a:r>
            <a:r>
              <a:rPr lang="en-US" dirty="0" err="1"/>
              <a:t>ClinVar</a:t>
            </a:r>
            <a:r>
              <a:rPr lang="en-US" dirty="0"/>
              <a:t> classified pathogenic/likely pathogenic): </a:t>
            </a:r>
            <a:r>
              <a:rPr lang="en-US" b="1" dirty="0"/>
              <a:t>1,085</a:t>
            </a:r>
            <a:endParaRPr lang="en-US" dirty="0"/>
          </a:p>
          <a:p>
            <a:endParaRPr lang="en-US" dirty="0"/>
          </a:p>
          <a:p>
            <a:r>
              <a:rPr lang="en-US" dirty="0"/>
              <a:t>Total n with clinical HHT diagnosis: </a:t>
            </a:r>
            <a:r>
              <a:rPr lang="en-US" b="1" dirty="0"/>
              <a:t>260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F82AF0B-29D2-FFFA-2908-74B9F7C39909}"/>
              </a:ext>
            </a:extLst>
          </p:cNvPr>
          <p:cNvSpPr txBox="1"/>
          <p:nvPr/>
        </p:nvSpPr>
        <p:spPr>
          <a:xfrm>
            <a:off x="6743700" y="3597951"/>
            <a:ext cx="5091498" cy="29854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/>
              <a:t>Two explanations for why many HHT patients apparently have no mutation that may be both partially correct: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1600" dirty="0"/>
              <a:t>People are being diagnosed clinically and yet they have no mutation = maybe they're being </a:t>
            </a:r>
            <a:r>
              <a:rPr lang="en-US" sz="1600" dirty="0" err="1"/>
              <a:t>overdiagnosed</a:t>
            </a:r>
            <a:r>
              <a:rPr lang="en-US" sz="1600" dirty="0"/>
              <a:t>?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1600" dirty="0"/>
              <a:t>We are missing variants because this is just based on </a:t>
            </a:r>
            <a:r>
              <a:rPr lang="en-US" sz="1600" dirty="0" err="1"/>
              <a:t>ClinVar</a:t>
            </a:r>
            <a:r>
              <a:rPr lang="en-US" sz="1600" dirty="0"/>
              <a:t> which probably only captures ~60% of known pathogenic and likely pathogenic variants, and misses potentially pathogenic variants per ACMG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85900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F42BD1-BA35-E744-E822-90B7C5BB1C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0644"/>
            <a:ext cx="10515600" cy="1325563"/>
          </a:xfrm>
        </p:spPr>
        <p:txBody>
          <a:bodyPr/>
          <a:lstStyle/>
          <a:p>
            <a:r>
              <a:rPr lang="en-US" dirty="0"/>
              <a:t>Barrier: what mutations are “pathogenic?”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D1797E-A070-8DDE-4162-8F1E1735C7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6461" y="1339849"/>
            <a:ext cx="6358639" cy="4784725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Once variant data is extracted from AoU, how do we interpret it?</a:t>
            </a:r>
          </a:p>
          <a:p>
            <a:pPr lvl="1"/>
            <a:r>
              <a:rPr lang="en-US" dirty="0"/>
              <a:t>2015 </a:t>
            </a:r>
            <a:r>
              <a:rPr lang="en-US" b="1" dirty="0"/>
              <a:t>ACMG </a:t>
            </a:r>
            <a:r>
              <a:rPr lang="en-US" dirty="0"/>
              <a:t>(American College of Medical Genetics) guidelines: General framework for interpreting variants for </a:t>
            </a:r>
            <a:r>
              <a:rPr lang="en-US" b="1" dirty="0"/>
              <a:t>any </a:t>
            </a:r>
            <a:r>
              <a:rPr lang="en-US" dirty="0"/>
              <a:t>disease</a:t>
            </a:r>
          </a:p>
          <a:p>
            <a:pPr lvl="2"/>
            <a:r>
              <a:rPr lang="en-US" dirty="0" err="1"/>
              <a:t>gnomAD</a:t>
            </a:r>
            <a:r>
              <a:rPr lang="en-US" dirty="0"/>
              <a:t>: how common is this variant in the general population?</a:t>
            </a:r>
          </a:p>
          <a:p>
            <a:pPr lvl="1"/>
            <a:r>
              <a:rPr lang="en-US" b="1" dirty="0" err="1"/>
              <a:t>ClinVar</a:t>
            </a:r>
            <a:r>
              <a:rPr lang="en-US" dirty="0"/>
              <a:t>: laboratories submit their classifications; strength of supporting evidence may vary</a:t>
            </a:r>
          </a:p>
          <a:p>
            <a:pPr lvl="2"/>
            <a:r>
              <a:rPr lang="en-US" dirty="0"/>
              <a:t>Up until now this is what I have been using</a:t>
            </a:r>
          </a:p>
          <a:p>
            <a:pPr lvl="1"/>
            <a:r>
              <a:rPr lang="en-US" b="1" dirty="0" err="1"/>
              <a:t>ClinGen</a:t>
            </a:r>
            <a:r>
              <a:rPr lang="en-US" dirty="0"/>
              <a:t>: experts review evidence to classify variants according to the above 2015 general guidelines</a:t>
            </a:r>
          </a:p>
          <a:p>
            <a:pPr lvl="1"/>
            <a:r>
              <a:rPr lang="en-US" dirty="0"/>
              <a:t>2024 </a:t>
            </a:r>
            <a:r>
              <a:rPr lang="en-US" b="1" dirty="0"/>
              <a:t>HHT-specific</a:t>
            </a:r>
            <a:r>
              <a:rPr lang="en-US" dirty="0"/>
              <a:t> ACMG/AMP guidelines</a:t>
            </a:r>
          </a:p>
          <a:p>
            <a:pPr lvl="1"/>
            <a:r>
              <a:rPr lang="en-US" b="1" dirty="0"/>
              <a:t>HGMD</a:t>
            </a:r>
            <a:r>
              <a:rPr lang="en-US" dirty="0"/>
              <a:t> (Human Gene Mutation Database): has scientific literature noted an association with disease?</a:t>
            </a:r>
          </a:p>
          <a:p>
            <a:r>
              <a:rPr lang="en-US" dirty="0">
                <a:highlight>
                  <a:srgbClr val="FFFF00"/>
                </a:highlight>
              </a:rPr>
              <a:t>HHT-specific ACMG/AMP and/or HGMD instead of relying on </a:t>
            </a:r>
            <a:r>
              <a:rPr lang="en-US" dirty="0" err="1">
                <a:highlight>
                  <a:srgbClr val="FFFF00"/>
                </a:highlight>
              </a:rPr>
              <a:t>ClinVar</a:t>
            </a:r>
            <a:r>
              <a:rPr lang="en-US" dirty="0">
                <a:highlight>
                  <a:srgbClr val="FFFF00"/>
                </a:highlight>
              </a:rPr>
              <a:t>?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66CF931-AE37-5B60-9DA1-C351D16D7B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43650" y="2399763"/>
            <a:ext cx="5848350" cy="20584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5CBF3ADB-D955-C73A-9602-28A2DFF9F752}"/>
              </a:ext>
            </a:extLst>
          </p:cNvPr>
          <p:cNvSpPr txBox="1"/>
          <p:nvPr/>
        </p:nvSpPr>
        <p:spPr>
          <a:xfrm>
            <a:off x="6305550" y="4521964"/>
            <a:ext cx="542925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/>
              <a:t>From Gaetani et al 2026: </a:t>
            </a:r>
            <a:r>
              <a:rPr lang="en-US" sz="1400" b="1" dirty="0"/>
              <a:t>Global prevalence of hereditary hemorrhagic telangiectasia-associated variants estimated by analysis of large-scale genomic databases</a:t>
            </a:r>
          </a:p>
        </p:txBody>
      </p:sp>
    </p:spTree>
    <p:extLst>
      <p:ext uri="{BB962C8B-B14F-4D97-AF65-F5344CB8AC3E}">
        <p14:creationId xmlns:p14="http://schemas.microsoft.com/office/powerpoint/2010/main" val="11533470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DC2B8B-9D70-44F2-81A5-F251F10E83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3033" y="0"/>
            <a:ext cx="10515600" cy="758415"/>
          </a:xfrm>
        </p:spPr>
        <p:txBody>
          <a:bodyPr>
            <a:noAutofit/>
          </a:bodyPr>
          <a:lstStyle/>
          <a:p>
            <a:r>
              <a:rPr lang="en-US" sz="3600" dirty="0"/>
              <a:t>ACMG/AMP: a framework for classifying HHT genes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B5C064-FE03-2810-CE24-C5D57ED269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4D26343-6620-A836-6873-BF2993D13C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44753" y="1053313"/>
            <a:ext cx="3115110" cy="550621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66A7689-F648-974B-1597-81F4E3A6AF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65886"/>
            <a:ext cx="8545118" cy="61921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69632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6D941B-E294-8646-F588-C1A23EF99B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65099"/>
            <a:ext cx="10515600" cy="835025"/>
          </a:xfrm>
        </p:spPr>
        <p:txBody>
          <a:bodyPr/>
          <a:lstStyle/>
          <a:p>
            <a:r>
              <a:rPr lang="en-US" dirty="0"/>
              <a:t>Genetic “Lost Generation” paper</a:t>
            </a:r>
          </a:p>
        </p:txBody>
      </p:sp>
      <p:graphicFrame>
        <p:nvGraphicFramePr>
          <p:cNvPr id="12" name="Content Placeholder 11">
            <a:extLst>
              <a:ext uri="{FF2B5EF4-FFF2-40B4-BE49-F238E27FC236}">
                <a16:creationId xmlns:a16="http://schemas.microsoft.com/office/drawing/2014/main" id="{89A6A346-DF7F-71F5-97F4-8D8E355CE40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732025167"/>
              </p:ext>
            </p:extLst>
          </p:nvPr>
        </p:nvGraphicFramePr>
        <p:xfrm>
          <a:off x="317672" y="895121"/>
          <a:ext cx="5568777" cy="5556240"/>
        </p:xfrm>
        <a:graphic>
          <a:graphicData uri="http://schemas.openxmlformats.org/drawingml/2006/table">
            <a:tbl>
              <a:tblPr/>
              <a:tblGrid>
                <a:gridCol w="1793846">
                  <a:extLst>
                    <a:ext uri="{9D8B030D-6E8A-4147-A177-3AD203B41FA5}">
                      <a16:colId xmlns:a16="http://schemas.microsoft.com/office/drawing/2014/main" val="2072483869"/>
                    </a:ext>
                  </a:extLst>
                </a:gridCol>
                <a:gridCol w="1793846">
                  <a:extLst>
                    <a:ext uri="{9D8B030D-6E8A-4147-A177-3AD203B41FA5}">
                      <a16:colId xmlns:a16="http://schemas.microsoft.com/office/drawing/2014/main" val="556461252"/>
                    </a:ext>
                  </a:extLst>
                </a:gridCol>
                <a:gridCol w="530483">
                  <a:extLst>
                    <a:ext uri="{9D8B030D-6E8A-4147-A177-3AD203B41FA5}">
                      <a16:colId xmlns:a16="http://schemas.microsoft.com/office/drawing/2014/main" val="2739823202"/>
                    </a:ext>
                  </a:extLst>
                </a:gridCol>
                <a:gridCol w="694188">
                  <a:extLst>
                    <a:ext uri="{9D8B030D-6E8A-4147-A177-3AD203B41FA5}">
                      <a16:colId xmlns:a16="http://schemas.microsoft.com/office/drawing/2014/main" val="550361569"/>
                    </a:ext>
                  </a:extLst>
                </a:gridCol>
                <a:gridCol w="756414">
                  <a:extLst>
                    <a:ext uri="{9D8B030D-6E8A-4147-A177-3AD203B41FA5}">
                      <a16:colId xmlns:a16="http://schemas.microsoft.com/office/drawing/2014/main" val="1410519251"/>
                    </a:ext>
                  </a:extLst>
                </a:gridCol>
              </a:tblGrid>
              <a:tr h="18645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00" b="1" i="0" u="none" strike="noStrike" dirty="0">
                          <a:solidFill>
                            <a:srgbClr val="FFFFFF"/>
                          </a:solidFill>
                          <a:effectLst/>
                          <a:latin typeface="Segoe UI" panose="020B0502040204020203" pitchFamily="34" charset="0"/>
                        </a:rPr>
                        <a:t>Condition category</a:t>
                      </a:r>
                    </a:p>
                  </a:txBody>
                  <a:tcPr marL="7301" marR="7301" marT="7301" marB="0" anchor="ctr">
                    <a:lnL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00" b="1" i="0" u="none" strike="noStrike" dirty="0">
                          <a:solidFill>
                            <a:srgbClr val="FFFFFF"/>
                          </a:solidFill>
                          <a:effectLst/>
                          <a:latin typeface="Segoe UI" panose="020B0502040204020203" pitchFamily="34" charset="0"/>
                        </a:rPr>
                        <a:t>Study group</a:t>
                      </a:r>
                    </a:p>
                  </a:txBody>
                  <a:tcPr marL="7301" marR="7301" marT="7301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00" b="1" i="0" u="none" strike="noStrike" dirty="0">
                          <a:solidFill>
                            <a:srgbClr val="FFFFFF"/>
                          </a:solidFill>
                          <a:effectLst/>
                          <a:latin typeface="Segoe UI" panose="020B0502040204020203" pitchFamily="34" charset="0"/>
                        </a:rPr>
                        <a:t>People</a:t>
                      </a:r>
                    </a:p>
                  </a:txBody>
                  <a:tcPr marL="7301" marR="7301" marT="730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00" b="1" i="0" u="none" strike="noStrike" dirty="0">
                          <a:solidFill>
                            <a:srgbClr val="FFFFFF"/>
                          </a:solidFill>
                          <a:effectLst/>
                          <a:latin typeface="Segoe UI" panose="020B0502040204020203" pitchFamily="34" charset="0"/>
                        </a:rPr>
                        <a:t>Group size</a:t>
                      </a:r>
                    </a:p>
                  </a:txBody>
                  <a:tcPr marL="7301" marR="7301" marT="730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00" b="1" i="0" u="none" strike="noStrike">
                          <a:solidFill>
                            <a:srgbClr val="FFFFFF"/>
                          </a:solidFill>
                          <a:effectLst/>
                          <a:latin typeface="Segoe UI" panose="020B0502040204020203" pitchFamily="34" charset="0"/>
                        </a:rPr>
                        <a:t>Rate</a:t>
                      </a:r>
                    </a:p>
                  </a:txBody>
                  <a:tcPr marL="7301" marR="7301" marT="7301" marB="0" anchor="ctr">
                    <a:lnL>
                      <a:noFill/>
                    </a:lnL>
                    <a:lnR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4163176"/>
                  </a:ext>
                </a:extLst>
              </a:tr>
              <a:tr h="18645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</a:rPr>
                        <a:t>AVM - other/unspecified</a:t>
                      </a:r>
                    </a:p>
                  </a:txBody>
                  <a:tcPr marL="7301" marR="7301" marT="7301" marB="0" anchor="ctr">
                    <a:lnL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</a:rPr>
                        <a:t>General population</a:t>
                      </a:r>
                    </a:p>
                  </a:txBody>
                  <a:tcPr marL="7301" marR="7301" marT="7301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</a:rPr>
                        <a:t>155</a:t>
                      </a:r>
                    </a:p>
                  </a:txBody>
                  <a:tcPr marL="7301" marR="7301" marT="730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</a:rPr>
                        <a:t>745,722</a:t>
                      </a:r>
                    </a:p>
                  </a:txBody>
                  <a:tcPr marL="7301" marR="7301" marT="730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</a:rPr>
                        <a:t>0.02%</a:t>
                      </a:r>
                    </a:p>
                  </a:txBody>
                  <a:tcPr marL="7301" marR="7301" marT="7301" marB="0" anchor="ctr">
                    <a:lnL>
                      <a:noFill/>
                    </a:lnL>
                    <a:lnR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4011689"/>
                  </a:ext>
                </a:extLst>
              </a:tr>
              <a:tr h="18645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</a:rPr>
                        <a:t> </a:t>
                      </a:r>
                    </a:p>
                  </a:txBody>
                  <a:tcPr marL="7301" marR="7301" marT="7301" marB="0" anchor="ctr">
                    <a:lnL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</a:rPr>
                        <a:t>Genetic mutation (no diagnosis)</a:t>
                      </a:r>
                    </a:p>
                  </a:txBody>
                  <a:tcPr marL="7301" marR="7301" marT="7301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</a:rPr>
                        <a:t>0</a:t>
                      </a:r>
                    </a:p>
                  </a:txBody>
                  <a:tcPr marL="7301" marR="7301" marT="730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</a:rPr>
                        <a:t>1,047</a:t>
                      </a:r>
                    </a:p>
                  </a:txBody>
                  <a:tcPr marL="7301" marR="7301" marT="730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</a:rPr>
                        <a:t>0.00%</a:t>
                      </a:r>
                    </a:p>
                  </a:txBody>
                  <a:tcPr marL="7301" marR="7301" marT="7301" marB="0" anchor="ctr">
                    <a:lnL>
                      <a:noFill/>
                    </a:lnL>
                    <a:lnR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25115238"/>
                  </a:ext>
                </a:extLst>
              </a:tr>
              <a:tr h="18645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</a:rPr>
                        <a:t> </a:t>
                      </a:r>
                    </a:p>
                  </a:txBody>
                  <a:tcPr marL="7301" marR="7301" marT="7301" marB="0" anchor="ctr">
                    <a:lnL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</a:rPr>
                        <a:t>HHT diagnosis</a:t>
                      </a:r>
                    </a:p>
                  </a:txBody>
                  <a:tcPr marL="7301" marR="7301" marT="7301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</a:rPr>
                        <a:t>8</a:t>
                      </a:r>
                    </a:p>
                  </a:txBody>
                  <a:tcPr marL="7301" marR="7301" marT="730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</a:rPr>
                        <a:t>260</a:t>
                      </a:r>
                    </a:p>
                  </a:txBody>
                  <a:tcPr marL="7301" marR="7301" marT="730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</a:rPr>
                        <a:t>3.08%</a:t>
                      </a:r>
                    </a:p>
                  </a:txBody>
                  <a:tcPr marL="7301" marR="7301" marT="7301" marB="0" anchor="ctr">
                    <a:lnL>
                      <a:noFill/>
                    </a:lnL>
                    <a:lnR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35293812"/>
                  </a:ext>
                </a:extLst>
              </a:tr>
              <a:tr h="18645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</a:rPr>
                        <a:t>Anemia/iron deficiency</a:t>
                      </a:r>
                    </a:p>
                  </a:txBody>
                  <a:tcPr marL="7301" marR="7301" marT="7301" marB="0" anchor="ctr">
                    <a:lnL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</a:rPr>
                        <a:t>General population</a:t>
                      </a:r>
                    </a:p>
                  </a:txBody>
                  <a:tcPr marL="7301" marR="7301" marT="7301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</a:rPr>
                        <a:t>149,827</a:t>
                      </a:r>
                    </a:p>
                  </a:txBody>
                  <a:tcPr marL="7301" marR="7301" marT="730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</a:rPr>
                        <a:t>745,722</a:t>
                      </a:r>
                    </a:p>
                  </a:txBody>
                  <a:tcPr marL="7301" marR="7301" marT="730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</a:rPr>
                        <a:t>20.09%</a:t>
                      </a:r>
                    </a:p>
                  </a:txBody>
                  <a:tcPr marL="7301" marR="7301" marT="7301" marB="0" anchor="ctr">
                    <a:lnL>
                      <a:noFill/>
                    </a:lnL>
                    <a:lnR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90154756"/>
                  </a:ext>
                </a:extLst>
              </a:tr>
              <a:tr h="18645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</a:rPr>
                        <a:t> </a:t>
                      </a:r>
                    </a:p>
                  </a:txBody>
                  <a:tcPr marL="7301" marR="7301" marT="7301" marB="0" anchor="ctr">
                    <a:lnL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</a:rPr>
                        <a:t>Genetic mutation (no diagnosis)</a:t>
                      </a:r>
                    </a:p>
                  </a:txBody>
                  <a:tcPr marL="7301" marR="7301" marT="7301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</a:rPr>
                        <a:t>238</a:t>
                      </a:r>
                    </a:p>
                  </a:txBody>
                  <a:tcPr marL="7301" marR="7301" marT="730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</a:rPr>
                        <a:t>1,047</a:t>
                      </a:r>
                    </a:p>
                  </a:txBody>
                  <a:tcPr marL="7301" marR="7301" marT="730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</a:rPr>
                        <a:t>22.73%</a:t>
                      </a:r>
                    </a:p>
                  </a:txBody>
                  <a:tcPr marL="7301" marR="7301" marT="7301" marB="0" anchor="ctr">
                    <a:lnL>
                      <a:noFill/>
                    </a:lnL>
                    <a:lnR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57634573"/>
                  </a:ext>
                </a:extLst>
              </a:tr>
              <a:tr h="18645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</a:rPr>
                        <a:t> </a:t>
                      </a:r>
                    </a:p>
                  </a:txBody>
                  <a:tcPr marL="7301" marR="7301" marT="7301" marB="0" anchor="ctr">
                    <a:lnL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</a:rPr>
                        <a:t>HHT diagnosis</a:t>
                      </a:r>
                    </a:p>
                  </a:txBody>
                  <a:tcPr marL="7301" marR="7301" marT="7301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</a:rPr>
                        <a:t>173</a:t>
                      </a:r>
                    </a:p>
                  </a:txBody>
                  <a:tcPr marL="7301" marR="7301" marT="730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</a:rPr>
                        <a:t>260</a:t>
                      </a:r>
                    </a:p>
                  </a:txBody>
                  <a:tcPr marL="7301" marR="7301" marT="730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</a:rPr>
                        <a:t>66.54%</a:t>
                      </a:r>
                    </a:p>
                  </a:txBody>
                  <a:tcPr marL="7301" marR="7301" marT="7301" marB="0" anchor="ctr">
                    <a:lnL>
                      <a:noFill/>
                    </a:lnL>
                    <a:lnR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85674463"/>
                  </a:ext>
                </a:extLst>
              </a:tr>
              <a:tr h="18645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</a:rPr>
                        <a:t>Cerebral AVM</a:t>
                      </a:r>
                    </a:p>
                  </a:txBody>
                  <a:tcPr marL="7301" marR="7301" marT="7301" marB="0" anchor="ctr">
                    <a:lnL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</a:rPr>
                        <a:t>General population</a:t>
                      </a:r>
                    </a:p>
                  </a:txBody>
                  <a:tcPr marL="7301" marR="7301" marT="7301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</a:rPr>
                        <a:t>1,129</a:t>
                      </a:r>
                    </a:p>
                  </a:txBody>
                  <a:tcPr marL="7301" marR="7301" marT="730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</a:rPr>
                        <a:t>745,722</a:t>
                      </a:r>
                    </a:p>
                  </a:txBody>
                  <a:tcPr marL="7301" marR="7301" marT="730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</a:rPr>
                        <a:t>0.15%</a:t>
                      </a:r>
                    </a:p>
                  </a:txBody>
                  <a:tcPr marL="7301" marR="7301" marT="7301" marB="0" anchor="ctr">
                    <a:lnL>
                      <a:noFill/>
                    </a:lnL>
                    <a:lnR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59321153"/>
                  </a:ext>
                </a:extLst>
              </a:tr>
              <a:tr h="18645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</a:rPr>
                        <a:t> </a:t>
                      </a:r>
                    </a:p>
                  </a:txBody>
                  <a:tcPr marL="7301" marR="7301" marT="7301" marB="0" anchor="ctr">
                    <a:lnL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</a:rPr>
                        <a:t>Genetic mutation (no diagnosis)</a:t>
                      </a:r>
                    </a:p>
                  </a:txBody>
                  <a:tcPr marL="7301" marR="7301" marT="7301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</a:rPr>
                        <a:t>1</a:t>
                      </a:r>
                    </a:p>
                  </a:txBody>
                  <a:tcPr marL="7301" marR="7301" marT="730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</a:rPr>
                        <a:t>1,047</a:t>
                      </a:r>
                    </a:p>
                  </a:txBody>
                  <a:tcPr marL="7301" marR="7301" marT="730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</a:rPr>
                        <a:t>0.10%</a:t>
                      </a:r>
                    </a:p>
                  </a:txBody>
                  <a:tcPr marL="7301" marR="7301" marT="7301" marB="0" anchor="ctr">
                    <a:lnL>
                      <a:noFill/>
                    </a:lnL>
                    <a:lnR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46480164"/>
                  </a:ext>
                </a:extLst>
              </a:tr>
              <a:tr h="18645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</a:rPr>
                        <a:t> </a:t>
                      </a:r>
                    </a:p>
                  </a:txBody>
                  <a:tcPr marL="7301" marR="7301" marT="7301" marB="0" anchor="ctr">
                    <a:lnL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</a:rPr>
                        <a:t>HHT diagnosis</a:t>
                      </a:r>
                    </a:p>
                  </a:txBody>
                  <a:tcPr marL="7301" marR="7301" marT="7301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</a:rPr>
                        <a:t>15</a:t>
                      </a:r>
                    </a:p>
                  </a:txBody>
                  <a:tcPr marL="7301" marR="7301" marT="730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</a:rPr>
                        <a:t>260</a:t>
                      </a:r>
                    </a:p>
                  </a:txBody>
                  <a:tcPr marL="7301" marR="7301" marT="730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</a:rPr>
                        <a:t>5.77%</a:t>
                      </a:r>
                    </a:p>
                  </a:txBody>
                  <a:tcPr marL="7301" marR="7301" marT="7301" marB="0" anchor="ctr">
                    <a:lnL>
                      <a:noFill/>
                    </a:lnL>
                    <a:lnR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3554956"/>
                  </a:ext>
                </a:extLst>
              </a:tr>
              <a:tr h="18645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</a:rPr>
                        <a:t>Epistaxis</a:t>
                      </a:r>
                    </a:p>
                  </a:txBody>
                  <a:tcPr marL="7301" marR="7301" marT="7301" marB="0" anchor="ctr">
                    <a:lnL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</a:rPr>
                        <a:t>General population</a:t>
                      </a:r>
                    </a:p>
                  </a:txBody>
                  <a:tcPr marL="7301" marR="7301" marT="7301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</a:rPr>
                        <a:t>19,068</a:t>
                      </a:r>
                    </a:p>
                  </a:txBody>
                  <a:tcPr marL="7301" marR="7301" marT="730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</a:rPr>
                        <a:t>745,722</a:t>
                      </a:r>
                    </a:p>
                  </a:txBody>
                  <a:tcPr marL="7301" marR="7301" marT="730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</a:rPr>
                        <a:t>2.56%</a:t>
                      </a:r>
                    </a:p>
                  </a:txBody>
                  <a:tcPr marL="7301" marR="7301" marT="7301" marB="0" anchor="ctr">
                    <a:lnL>
                      <a:noFill/>
                    </a:lnL>
                    <a:lnR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60798368"/>
                  </a:ext>
                </a:extLst>
              </a:tr>
              <a:tr h="18645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</a:rPr>
                        <a:t> </a:t>
                      </a:r>
                    </a:p>
                  </a:txBody>
                  <a:tcPr marL="7301" marR="7301" marT="7301" marB="0" anchor="ctr">
                    <a:lnL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</a:rPr>
                        <a:t>Genetic mutation (no diagnosis)</a:t>
                      </a:r>
                    </a:p>
                  </a:txBody>
                  <a:tcPr marL="7301" marR="7301" marT="7301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</a:rPr>
                        <a:t>41</a:t>
                      </a:r>
                    </a:p>
                  </a:txBody>
                  <a:tcPr marL="7301" marR="7301" marT="730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</a:rPr>
                        <a:t>1,047</a:t>
                      </a:r>
                    </a:p>
                  </a:txBody>
                  <a:tcPr marL="7301" marR="7301" marT="730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</a:rPr>
                        <a:t>3.92%</a:t>
                      </a:r>
                    </a:p>
                  </a:txBody>
                  <a:tcPr marL="7301" marR="7301" marT="7301" marB="0" anchor="ctr">
                    <a:lnL>
                      <a:noFill/>
                    </a:lnL>
                    <a:lnR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90881949"/>
                  </a:ext>
                </a:extLst>
              </a:tr>
              <a:tr h="18645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</a:rPr>
                        <a:t> </a:t>
                      </a:r>
                    </a:p>
                  </a:txBody>
                  <a:tcPr marL="7301" marR="7301" marT="7301" marB="0" anchor="ctr">
                    <a:lnL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</a:rPr>
                        <a:t>HHT diagnosis</a:t>
                      </a:r>
                    </a:p>
                  </a:txBody>
                  <a:tcPr marL="7301" marR="7301" marT="7301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</a:rPr>
                        <a:t>93</a:t>
                      </a:r>
                    </a:p>
                  </a:txBody>
                  <a:tcPr marL="7301" marR="7301" marT="730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</a:rPr>
                        <a:t>260</a:t>
                      </a:r>
                    </a:p>
                  </a:txBody>
                  <a:tcPr marL="7301" marR="7301" marT="730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</a:rPr>
                        <a:t>35.77%</a:t>
                      </a:r>
                    </a:p>
                  </a:txBody>
                  <a:tcPr marL="7301" marR="7301" marT="7301" marB="0" anchor="ctr">
                    <a:lnL>
                      <a:noFill/>
                    </a:lnL>
                    <a:lnR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131095"/>
                  </a:ext>
                </a:extLst>
              </a:tr>
              <a:tr h="18645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</a:rPr>
                        <a:t>GI AVM</a:t>
                      </a:r>
                    </a:p>
                  </a:txBody>
                  <a:tcPr marL="7301" marR="7301" marT="7301" marB="0" anchor="ctr">
                    <a:lnL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</a:rPr>
                        <a:t>General population</a:t>
                      </a:r>
                    </a:p>
                  </a:txBody>
                  <a:tcPr marL="7301" marR="7301" marT="7301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</a:rPr>
                        <a:t>235</a:t>
                      </a:r>
                    </a:p>
                  </a:txBody>
                  <a:tcPr marL="7301" marR="7301" marT="730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</a:rPr>
                        <a:t>745,722</a:t>
                      </a:r>
                    </a:p>
                  </a:txBody>
                  <a:tcPr marL="7301" marR="7301" marT="730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</a:rPr>
                        <a:t>0.03%</a:t>
                      </a:r>
                    </a:p>
                  </a:txBody>
                  <a:tcPr marL="7301" marR="7301" marT="7301" marB="0" anchor="ctr">
                    <a:lnL>
                      <a:noFill/>
                    </a:lnL>
                    <a:lnR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27213053"/>
                  </a:ext>
                </a:extLst>
              </a:tr>
              <a:tr h="18645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</a:rPr>
                        <a:t> </a:t>
                      </a:r>
                    </a:p>
                  </a:txBody>
                  <a:tcPr marL="7301" marR="7301" marT="7301" marB="0" anchor="ctr">
                    <a:lnL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</a:rPr>
                        <a:t>Genetic mutation (no diagnosis)</a:t>
                      </a:r>
                    </a:p>
                  </a:txBody>
                  <a:tcPr marL="7301" marR="7301" marT="7301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</a:rPr>
                        <a:t>0</a:t>
                      </a:r>
                    </a:p>
                  </a:txBody>
                  <a:tcPr marL="7301" marR="7301" marT="730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</a:rPr>
                        <a:t>1,047</a:t>
                      </a:r>
                    </a:p>
                  </a:txBody>
                  <a:tcPr marL="7301" marR="7301" marT="730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</a:rPr>
                        <a:t>0.00%</a:t>
                      </a:r>
                    </a:p>
                  </a:txBody>
                  <a:tcPr marL="7301" marR="7301" marT="7301" marB="0" anchor="ctr">
                    <a:lnL>
                      <a:noFill/>
                    </a:lnL>
                    <a:lnR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1492864"/>
                  </a:ext>
                </a:extLst>
              </a:tr>
              <a:tr h="18645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</a:rPr>
                        <a:t> </a:t>
                      </a:r>
                    </a:p>
                  </a:txBody>
                  <a:tcPr marL="7301" marR="7301" marT="7301" marB="0" anchor="ctr">
                    <a:lnL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</a:rPr>
                        <a:t>HHT diagnosis</a:t>
                      </a:r>
                    </a:p>
                  </a:txBody>
                  <a:tcPr marL="7301" marR="7301" marT="7301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</a:rPr>
                        <a:t>11</a:t>
                      </a:r>
                    </a:p>
                  </a:txBody>
                  <a:tcPr marL="7301" marR="7301" marT="730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</a:rPr>
                        <a:t>260</a:t>
                      </a:r>
                    </a:p>
                  </a:txBody>
                  <a:tcPr marL="7301" marR="7301" marT="730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</a:rPr>
                        <a:t>4.23%</a:t>
                      </a:r>
                    </a:p>
                  </a:txBody>
                  <a:tcPr marL="7301" marR="7301" marT="7301" marB="0" anchor="ctr">
                    <a:lnL>
                      <a:noFill/>
                    </a:lnL>
                    <a:lnR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75890067"/>
                  </a:ext>
                </a:extLst>
              </a:tr>
              <a:tr h="18645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</a:rPr>
                        <a:t>GI bleed</a:t>
                      </a:r>
                    </a:p>
                  </a:txBody>
                  <a:tcPr marL="7301" marR="7301" marT="7301" marB="0" anchor="ctr">
                    <a:lnL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</a:rPr>
                        <a:t>General population</a:t>
                      </a:r>
                    </a:p>
                  </a:txBody>
                  <a:tcPr marL="7301" marR="7301" marT="7301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</a:rPr>
                        <a:t>57,633</a:t>
                      </a:r>
                    </a:p>
                  </a:txBody>
                  <a:tcPr marL="7301" marR="7301" marT="730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</a:rPr>
                        <a:t>745,722</a:t>
                      </a:r>
                    </a:p>
                  </a:txBody>
                  <a:tcPr marL="7301" marR="7301" marT="730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</a:rPr>
                        <a:t>7.73%</a:t>
                      </a:r>
                    </a:p>
                  </a:txBody>
                  <a:tcPr marL="7301" marR="7301" marT="7301" marB="0" anchor="ctr">
                    <a:lnL>
                      <a:noFill/>
                    </a:lnL>
                    <a:lnR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0490471"/>
                  </a:ext>
                </a:extLst>
              </a:tr>
              <a:tr h="18645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</a:rPr>
                        <a:t> </a:t>
                      </a:r>
                    </a:p>
                  </a:txBody>
                  <a:tcPr marL="7301" marR="7301" marT="7301" marB="0" anchor="ctr">
                    <a:lnL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</a:rPr>
                        <a:t>Genetic mutation (no diagnosis)</a:t>
                      </a:r>
                    </a:p>
                  </a:txBody>
                  <a:tcPr marL="7301" marR="7301" marT="7301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</a:rPr>
                        <a:t>91</a:t>
                      </a:r>
                    </a:p>
                  </a:txBody>
                  <a:tcPr marL="7301" marR="7301" marT="730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</a:rPr>
                        <a:t>1,047</a:t>
                      </a:r>
                    </a:p>
                  </a:txBody>
                  <a:tcPr marL="7301" marR="7301" marT="730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</a:rPr>
                        <a:t>8.69%</a:t>
                      </a:r>
                    </a:p>
                  </a:txBody>
                  <a:tcPr marL="7301" marR="7301" marT="7301" marB="0" anchor="ctr">
                    <a:lnL>
                      <a:noFill/>
                    </a:lnL>
                    <a:lnR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73680"/>
                  </a:ext>
                </a:extLst>
              </a:tr>
              <a:tr h="18645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</a:rPr>
                        <a:t> </a:t>
                      </a:r>
                    </a:p>
                  </a:txBody>
                  <a:tcPr marL="7301" marR="7301" marT="7301" marB="0" anchor="ctr">
                    <a:lnL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</a:rPr>
                        <a:t>HHT diagnosis</a:t>
                      </a:r>
                    </a:p>
                  </a:txBody>
                  <a:tcPr marL="7301" marR="7301" marT="7301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</a:rPr>
                        <a:t>80</a:t>
                      </a:r>
                    </a:p>
                  </a:txBody>
                  <a:tcPr marL="7301" marR="7301" marT="730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</a:rPr>
                        <a:t>260</a:t>
                      </a:r>
                    </a:p>
                  </a:txBody>
                  <a:tcPr marL="7301" marR="7301" marT="730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</a:rPr>
                        <a:t>30.77%</a:t>
                      </a:r>
                    </a:p>
                  </a:txBody>
                  <a:tcPr marL="7301" marR="7301" marT="7301" marB="0" anchor="ctr">
                    <a:lnL>
                      <a:noFill/>
                    </a:lnL>
                    <a:lnR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7973265"/>
                  </a:ext>
                </a:extLst>
              </a:tr>
              <a:tr h="354257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</a:rPr>
                        <a:t>Liver AVM</a:t>
                      </a:r>
                    </a:p>
                  </a:txBody>
                  <a:tcPr marL="7301" marR="7301" marT="7301" marB="0" anchor="ctr">
                    <a:lnL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</a:rPr>
                        <a:t>General population</a:t>
                      </a:r>
                    </a:p>
                  </a:txBody>
                  <a:tcPr marL="7301" marR="7301" marT="7301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</a:rPr>
                        <a:t>5</a:t>
                      </a:r>
                    </a:p>
                  </a:txBody>
                  <a:tcPr marL="7301" marR="7301" marT="730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</a:rPr>
                        <a:t>745,722</a:t>
                      </a:r>
                    </a:p>
                  </a:txBody>
                  <a:tcPr marL="7301" marR="7301" marT="730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</a:rPr>
                        <a:t>0.00%</a:t>
                      </a:r>
                    </a:p>
                  </a:txBody>
                  <a:tcPr marL="7301" marR="7301" marT="7301" marB="0" anchor="ctr">
                    <a:lnL>
                      <a:noFill/>
                    </a:lnL>
                    <a:lnR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0095536"/>
                  </a:ext>
                </a:extLst>
              </a:tr>
              <a:tr h="18645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</a:rPr>
                        <a:t> </a:t>
                      </a:r>
                    </a:p>
                  </a:txBody>
                  <a:tcPr marL="7301" marR="7301" marT="7301" marB="0" anchor="ctr">
                    <a:lnL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</a:rPr>
                        <a:t>Genetic mutation (no diagnosis)</a:t>
                      </a:r>
                    </a:p>
                  </a:txBody>
                  <a:tcPr marL="7301" marR="7301" marT="7301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</a:rPr>
                        <a:t>0</a:t>
                      </a:r>
                    </a:p>
                  </a:txBody>
                  <a:tcPr marL="7301" marR="7301" marT="730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</a:rPr>
                        <a:t>1,047</a:t>
                      </a:r>
                    </a:p>
                  </a:txBody>
                  <a:tcPr marL="7301" marR="7301" marT="730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</a:rPr>
                        <a:t>0.00%</a:t>
                      </a:r>
                    </a:p>
                  </a:txBody>
                  <a:tcPr marL="7301" marR="7301" marT="7301" marB="0" anchor="ctr">
                    <a:lnL>
                      <a:noFill/>
                    </a:lnL>
                    <a:lnR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6463792"/>
                  </a:ext>
                </a:extLst>
              </a:tr>
              <a:tr h="354257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</a:rPr>
                        <a:t> </a:t>
                      </a:r>
                    </a:p>
                  </a:txBody>
                  <a:tcPr marL="7301" marR="7301" marT="7301" marB="0" anchor="ctr">
                    <a:lnL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</a:rPr>
                        <a:t>HHT diagnosis</a:t>
                      </a:r>
                    </a:p>
                  </a:txBody>
                  <a:tcPr marL="7301" marR="7301" marT="7301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</a:rPr>
                        <a:t>2</a:t>
                      </a:r>
                    </a:p>
                  </a:txBody>
                  <a:tcPr marL="7301" marR="7301" marT="730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</a:rPr>
                        <a:t>260</a:t>
                      </a:r>
                    </a:p>
                  </a:txBody>
                  <a:tcPr marL="7301" marR="7301" marT="730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</a:rPr>
                        <a:t>0.77%</a:t>
                      </a:r>
                    </a:p>
                  </a:txBody>
                  <a:tcPr marL="7301" marR="7301" marT="7301" marB="0" anchor="ctr">
                    <a:lnL>
                      <a:noFill/>
                    </a:lnL>
                    <a:lnR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14990586"/>
                  </a:ext>
                </a:extLst>
              </a:tr>
              <a:tr h="18645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</a:rPr>
                        <a:t>Mucocutaneous telangiectasia</a:t>
                      </a:r>
                    </a:p>
                  </a:txBody>
                  <a:tcPr marL="7301" marR="7301" marT="7301" marB="0" anchor="ctr">
                    <a:lnL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</a:rPr>
                        <a:t>General population</a:t>
                      </a:r>
                    </a:p>
                  </a:txBody>
                  <a:tcPr marL="7301" marR="7301" marT="7301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</a:rPr>
                        <a:t>774</a:t>
                      </a:r>
                    </a:p>
                  </a:txBody>
                  <a:tcPr marL="7301" marR="7301" marT="730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</a:rPr>
                        <a:t>745,722</a:t>
                      </a:r>
                    </a:p>
                  </a:txBody>
                  <a:tcPr marL="7301" marR="7301" marT="730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</a:rPr>
                        <a:t>0.10%</a:t>
                      </a:r>
                    </a:p>
                  </a:txBody>
                  <a:tcPr marL="7301" marR="7301" marT="7301" marB="0" anchor="ctr">
                    <a:lnL>
                      <a:noFill/>
                    </a:lnL>
                    <a:lnR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2011715"/>
                  </a:ext>
                </a:extLst>
              </a:tr>
              <a:tr h="18645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</a:rPr>
                        <a:t> </a:t>
                      </a:r>
                    </a:p>
                  </a:txBody>
                  <a:tcPr marL="7301" marR="7301" marT="7301" marB="0" anchor="ctr">
                    <a:lnL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</a:rPr>
                        <a:t>Genetic mutation (no diagnosis)</a:t>
                      </a:r>
                    </a:p>
                  </a:txBody>
                  <a:tcPr marL="7301" marR="7301" marT="7301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</a:rPr>
                        <a:t>5</a:t>
                      </a:r>
                    </a:p>
                  </a:txBody>
                  <a:tcPr marL="7301" marR="7301" marT="730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</a:rPr>
                        <a:t>1,047</a:t>
                      </a:r>
                    </a:p>
                  </a:txBody>
                  <a:tcPr marL="7301" marR="7301" marT="730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</a:rPr>
                        <a:t>0.48%</a:t>
                      </a:r>
                    </a:p>
                  </a:txBody>
                  <a:tcPr marL="7301" marR="7301" marT="7301" marB="0" anchor="ctr">
                    <a:lnL>
                      <a:noFill/>
                    </a:lnL>
                    <a:lnR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58823590"/>
                  </a:ext>
                </a:extLst>
              </a:tr>
              <a:tr h="18645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</a:rPr>
                        <a:t> </a:t>
                      </a:r>
                    </a:p>
                  </a:txBody>
                  <a:tcPr marL="7301" marR="7301" marT="7301" marB="0" anchor="ctr">
                    <a:lnL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</a:rPr>
                        <a:t>HHT diagnosis</a:t>
                      </a:r>
                    </a:p>
                  </a:txBody>
                  <a:tcPr marL="7301" marR="7301" marT="7301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</a:rPr>
                        <a:t>14</a:t>
                      </a:r>
                    </a:p>
                  </a:txBody>
                  <a:tcPr marL="7301" marR="7301" marT="730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</a:rPr>
                        <a:t>260</a:t>
                      </a:r>
                    </a:p>
                  </a:txBody>
                  <a:tcPr marL="7301" marR="7301" marT="730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</a:rPr>
                        <a:t>5.38%</a:t>
                      </a:r>
                    </a:p>
                  </a:txBody>
                  <a:tcPr marL="7301" marR="7301" marT="7301" marB="0" anchor="ctr">
                    <a:lnL>
                      <a:noFill/>
                    </a:lnL>
                    <a:lnR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55865917"/>
                  </a:ext>
                </a:extLst>
              </a:tr>
              <a:tr h="18645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</a:rPr>
                        <a:t>Pulmonary AVM</a:t>
                      </a:r>
                    </a:p>
                  </a:txBody>
                  <a:tcPr marL="7301" marR="7301" marT="7301" marB="0" anchor="ctr">
                    <a:lnL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</a:rPr>
                        <a:t>General population</a:t>
                      </a:r>
                    </a:p>
                  </a:txBody>
                  <a:tcPr marL="7301" marR="7301" marT="7301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</a:rPr>
                        <a:t>112</a:t>
                      </a:r>
                    </a:p>
                  </a:txBody>
                  <a:tcPr marL="7301" marR="7301" marT="730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</a:rPr>
                        <a:t>745,722</a:t>
                      </a:r>
                    </a:p>
                  </a:txBody>
                  <a:tcPr marL="7301" marR="7301" marT="730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</a:rPr>
                        <a:t>0.02%</a:t>
                      </a:r>
                    </a:p>
                  </a:txBody>
                  <a:tcPr marL="7301" marR="7301" marT="7301" marB="0" anchor="ctr">
                    <a:lnL>
                      <a:noFill/>
                    </a:lnL>
                    <a:lnR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04133496"/>
                  </a:ext>
                </a:extLst>
              </a:tr>
              <a:tr h="18645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</a:rPr>
                        <a:t> </a:t>
                      </a:r>
                    </a:p>
                  </a:txBody>
                  <a:tcPr marL="7301" marR="7301" marT="7301" marB="0" anchor="ctr">
                    <a:lnL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</a:rPr>
                        <a:t>Genetic mutation (no diagnosis)</a:t>
                      </a:r>
                    </a:p>
                  </a:txBody>
                  <a:tcPr marL="7301" marR="7301" marT="7301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</a:rPr>
                        <a:t>1</a:t>
                      </a:r>
                    </a:p>
                  </a:txBody>
                  <a:tcPr marL="7301" marR="7301" marT="730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</a:rPr>
                        <a:t>1,047</a:t>
                      </a:r>
                    </a:p>
                  </a:txBody>
                  <a:tcPr marL="7301" marR="7301" marT="730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</a:rPr>
                        <a:t>0.10%</a:t>
                      </a:r>
                    </a:p>
                  </a:txBody>
                  <a:tcPr marL="7301" marR="7301" marT="7301" marB="0" anchor="ctr">
                    <a:lnL>
                      <a:noFill/>
                    </a:lnL>
                    <a:lnR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76392098"/>
                  </a:ext>
                </a:extLst>
              </a:tr>
              <a:tr h="18645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</a:rPr>
                        <a:t> </a:t>
                      </a:r>
                    </a:p>
                  </a:txBody>
                  <a:tcPr marL="7301" marR="7301" marT="7301" marB="0" anchor="ctr">
                    <a:lnL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</a:rPr>
                        <a:t>HHT diagnosis</a:t>
                      </a:r>
                    </a:p>
                  </a:txBody>
                  <a:tcPr marL="7301" marR="7301" marT="7301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</a:rPr>
                        <a:t>31</a:t>
                      </a:r>
                    </a:p>
                  </a:txBody>
                  <a:tcPr marL="7301" marR="7301" marT="730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</a:rPr>
                        <a:t>260</a:t>
                      </a:r>
                    </a:p>
                  </a:txBody>
                  <a:tcPr marL="7301" marR="7301" marT="730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</a:rPr>
                        <a:t>11.92%</a:t>
                      </a:r>
                    </a:p>
                  </a:txBody>
                  <a:tcPr marL="7301" marR="7301" marT="7301" marB="0" anchor="ctr">
                    <a:lnL>
                      <a:noFill/>
                    </a:lnL>
                    <a:lnR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5997779"/>
                  </a:ext>
                </a:extLst>
              </a:tr>
            </a:tbl>
          </a:graphicData>
        </a:graphic>
      </p:graphicFrame>
      <p:pic>
        <p:nvPicPr>
          <p:cNvPr id="13" name="Picture 12">
            <a:extLst>
              <a:ext uri="{FF2B5EF4-FFF2-40B4-BE49-F238E27FC236}">
                <a16:creationId xmlns:a16="http://schemas.microsoft.com/office/drawing/2014/main" id="{B6A3F5B3-78FF-C2AE-FD2C-FF6E4C01061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86449" y="3130551"/>
            <a:ext cx="6412230" cy="3562350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BB64829-5673-F8A9-BBE4-D78DAE5B7085}"/>
              </a:ext>
            </a:extLst>
          </p:cNvPr>
          <p:cNvSpPr txBox="1"/>
          <p:nvPr/>
        </p:nvSpPr>
        <p:spPr>
          <a:xfrm>
            <a:off x="6200774" y="1846231"/>
            <a:ext cx="618172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/>
              <a:t>Barrier: likely incomplete capture of phenotype data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382622535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1EACF0-009F-C37C-11B7-9381EFA39C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en-US" dirty="0"/>
              <a:t>Where are HHT patients located?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6C4498-1AEF-E86B-B8C7-CEDAA63C89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6225" y="1362075"/>
            <a:ext cx="3609975" cy="4710113"/>
          </a:xfrm>
        </p:spPr>
        <p:txBody>
          <a:bodyPr>
            <a:normAutofit fontScale="92500" lnSpcReduction="10000"/>
          </a:bodyPr>
          <a:lstStyle/>
          <a:p>
            <a:r>
              <a:rPr lang="en-US" sz="2400" dirty="0"/>
              <a:t>AoU assigns EHR data like visits a “</a:t>
            </a:r>
            <a:r>
              <a:rPr lang="en-US" sz="2400" dirty="0" err="1"/>
              <a:t>src_id</a:t>
            </a:r>
            <a:r>
              <a:rPr lang="en-US" sz="2400" dirty="0"/>
              <a:t>” which is unique to each institution - but you cannot trace it back to the institution name</a:t>
            </a:r>
          </a:p>
          <a:p>
            <a:r>
              <a:rPr lang="en-US" sz="2400" dirty="0"/>
              <a:t>Variables extracted: reported state of residence, and “primary clinical site” = site with the most visits</a:t>
            </a:r>
          </a:p>
          <a:p>
            <a:r>
              <a:rPr lang="en-US" sz="2400" dirty="0"/>
              <a:t>Comparing HHT patients to mutation-only patients, and a random sample of 5,000 controls:</a:t>
            </a:r>
          </a:p>
          <a:p>
            <a:pPr lvl="1"/>
            <a:endParaRPr lang="en-US" sz="2000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9671B39F-BEDE-47B7-59F4-07E6A6F49F8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86417400"/>
              </p:ext>
            </p:extLst>
          </p:nvPr>
        </p:nvGraphicFramePr>
        <p:xfrm>
          <a:off x="4295775" y="1147022"/>
          <a:ext cx="5200649" cy="1066800"/>
        </p:xfrm>
        <a:graphic>
          <a:graphicData uri="http://schemas.openxmlformats.org/drawingml/2006/table">
            <a:tbl>
              <a:tblPr/>
              <a:tblGrid>
                <a:gridCol w="2087907">
                  <a:extLst>
                    <a:ext uri="{9D8B030D-6E8A-4147-A177-3AD203B41FA5}">
                      <a16:colId xmlns:a16="http://schemas.microsoft.com/office/drawing/2014/main" val="2131088779"/>
                    </a:ext>
                  </a:extLst>
                </a:gridCol>
                <a:gridCol w="1070722">
                  <a:extLst>
                    <a:ext uri="{9D8B030D-6E8A-4147-A177-3AD203B41FA5}">
                      <a16:colId xmlns:a16="http://schemas.microsoft.com/office/drawing/2014/main" val="1165600050"/>
                    </a:ext>
                  </a:extLst>
                </a:gridCol>
                <a:gridCol w="1070722">
                  <a:extLst>
                    <a:ext uri="{9D8B030D-6E8A-4147-A177-3AD203B41FA5}">
                      <a16:colId xmlns:a16="http://schemas.microsoft.com/office/drawing/2014/main" val="2236742655"/>
                    </a:ext>
                  </a:extLst>
                </a:gridCol>
                <a:gridCol w="971298">
                  <a:extLst>
                    <a:ext uri="{9D8B030D-6E8A-4147-A177-3AD203B41FA5}">
                      <a16:colId xmlns:a16="http://schemas.microsoft.com/office/drawing/2014/main" val="2632824760"/>
                    </a:ext>
                  </a:extLst>
                </a:gridCol>
              </a:tblGrid>
              <a:tr h="304800">
                <a:tc gridSpan="4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EHR Linkage to a Real Clinical Site, by Group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8354327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Study group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Participants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Linked to EHR site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Linked (%)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5548913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General population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5,000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2,551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51.0%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3512482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Genetic mutation (no diagnosis)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1,047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619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59.1%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56738062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HHT diagnosis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260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240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92.3%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2179760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E2E0712F-7D57-1CF2-796A-7C5EECC7A9C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21457341"/>
              </p:ext>
            </p:extLst>
          </p:nvPr>
        </p:nvGraphicFramePr>
        <p:xfrm>
          <a:off x="4295775" y="2362200"/>
          <a:ext cx="7727950" cy="1066800"/>
        </p:xfrm>
        <a:graphic>
          <a:graphicData uri="http://schemas.openxmlformats.org/drawingml/2006/table">
            <a:tbl>
              <a:tblPr/>
              <a:tblGrid>
                <a:gridCol w="2378501">
                  <a:extLst>
                    <a:ext uri="{9D8B030D-6E8A-4147-A177-3AD203B41FA5}">
                      <a16:colId xmlns:a16="http://schemas.microsoft.com/office/drawing/2014/main" val="3891833144"/>
                    </a:ext>
                  </a:extLst>
                </a:gridCol>
                <a:gridCol w="1219744">
                  <a:extLst>
                    <a:ext uri="{9D8B030D-6E8A-4147-A177-3AD203B41FA5}">
                      <a16:colId xmlns:a16="http://schemas.microsoft.com/office/drawing/2014/main" val="4190574779"/>
                    </a:ext>
                  </a:extLst>
                </a:gridCol>
                <a:gridCol w="1219744">
                  <a:extLst>
                    <a:ext uri="{9D8B030D-6E8A-4147-A177-3AD203B41FA5}">
                      <a16:colId xmlns:a16="http://schemas.microsoft.com/office/drawing/2014/main" val="2930931746"/>
                    </a:ext>
                  </a:extLst>
                </a:gridCol>
                <a:gridCol w="1106482">
                  <a:extLst>
                    <a:ext uri="{9D8B030D-6E8A-4147-A177-3AD203B41FA5}">
                      <a16:colId xmlns:a16="http://schemas.microsoft.com/office/drawing/2014/main" val="2906123459"/>
                    </a:ext>
                  </a:extLst>
                </a:gridCol>
                <a:gridCol w="1106482">
                  <a:extLst>
                    <a:ext uri="{9D8B030D-6E8A-4147-A177-3AD203B41FA5}">
                      <a16:colId xmlns:a16="http://schemas.microsoft.com/office/drawing/2014/main" val="836445764"/>
                    </a:ext>
                  </a:extLst>
                </a:gridCol>
                <a:gridCol w="696997">
                  <a:extLst>
                    <a:ext uri="{9D8B030D-6E8A-4147-A177-3AD203B41FA5}">
                      <a16:colId xmlns:a16="http://schemas.microsoft.com/office/drawing/2014/main" val="682089437"/>
                    </a:ext>
                  </a:extLst>
                </a:gridCol>
              </a:tblGrid>
              <a:tr h="304800">
                <a:tc gridSpan="6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Site Concentration Among Participants With a Linked EHR Site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59223033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Study group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Linked participants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Distinct sites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Top site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Top-site share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HHI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8706515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General population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2,551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61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EHR site 699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8.8%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0.040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3090974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Genetic mutation (no diagnosis)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619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51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EHR site 321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12.3%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0.044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82759259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HHT diagnosis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240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EHR site 392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15.4%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0.076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47846034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4CE9222F-199B-493F-9A45-E5369B4FB5F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284382"/>
              </p:ext>
            </p:extLst>
          </p:nvPr>
        </p:nvGraphicFramePr>
        <p:xfrm>
          <a:off x="4295775" y="3577378"/>
          <a:ext cx="6657975" cy="3280622"/>
        </p:xfrm>
        <a:graphic>
          <a:graphicData uri="http://schemas.openxmlformats.org/drawingml/2006/table">
            <a:tbl>
              <a:tblPr/>
              <a:tblGrid>
                <a:gridCol w="2672981">
                  <a:extLst>
                    <a:ext uri="{9D8B030D-6E8A-4147-A177-3AD203B41FA5}">
                      <a16:colId xmlns:a16="http://schemas.microsoft.com/office/drawing/2014/main" val="1650518482"/>
                    </a:ext>
                  </a:extLst>
                </a:gridCol>
                <a:gridCol w="1370760">
                  <a:extLst>
                    <a:ext uri="{9D8B030D-6E8A-4147-A177-3AD203B41FA5}">
                      <a16:colId xmlns:a16="http://schemas.microsoft.com/office/drawing/2014/main" val="960273199"/>
                    </a:ext>
                  </a:extLst>
                </a:gridCol>
                <a:gridCol w="1370760">
                  <a:extLst>
                    <a:ext uri="{9D8B030D-6E8A-4147-A177-3AD203B41FA5}">
                      <a16:colId xmlns:a16="http://schemas.microsoft.com/office/drawing/2014/main" val="666787653"/>
                    </a:ext>
                  </a:extLst>
                </a:gridCol>
                <a:gridCol w="1243474">
                  <a:extLst>
                    <a:ext uri="{9D8B030D-6E8A-4147-A177-3AD203B41FA5}">
                      <a16:colId xmlns:a16="http://schemas.microsoft.com/office/drawing/2014/main" val="108964851"/>
                    </a:ext>
                  </a:extLst>
                </a:gridCol>
              </a:tblGrid>
              <a:tr h="268817">
                <a:tc gridSpan="4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Top Primary EHR Sites by Study Group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35732925"/>
                  </a:ext>
                </a:extLst>
              </a:tr>
              <a:tr h="16801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Study group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Primary EHR site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Participants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Share of linked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9643366"/>
                  </a:ext>
                </a:extLst>
              </a:tr>
              <a:tr h="16801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General population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EHR site 699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224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8.8%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9776346"/>
                  </a:ext>
                </a:extLst>
              </a:tr>
              <a:tr h="16801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EHR site 321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223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8.7%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90904479"/>
                  </a:ext>
                </a:extLst>
              </a:tr>
              <a:tr h="16801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EHR site 305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180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7.1%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76533119"/>
                  </a:ext>
                </a:extLst>
              </a:tr>
              <a:tr h="16801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EHR site 638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133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5.2%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25106300"/>
                  </a:ext>
                </a:extLst>
              </a:tr>
              <a:tr h="16801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EHR site 195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109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4.3%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60008525"/>
                  </a:ext>
                </a:extLst>
              </a:tr>
              <a:tr h="16801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Genetic mutation (no diagnosis)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EHR site 321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76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12.3%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4900179"/>
                  </a:ext>
                </a:extLst>
              </a:tr>
              <a:tr h="16801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EHR site 699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59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9.5%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0915621"/>
                  </a:ext>
                </a:extLst>
              </a:tr>
              <a:tr h="16801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EHR site 638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25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4.0%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65089458"/>
                  </a:ext>
                </a:extLst>
              </a:tr>
              <a:tr h="16801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EHR site 765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25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4.0%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6609619"/>
                  </a:ext>
                </a:extLst>
              </a:tr>
              <a:tr h="16801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EHR site 250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23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3.7%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45940934"/>
                  </a:ext>
                </a:extLst>
              </a:tr>
              <a:tr h="16801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EHR site 305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23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3.7%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02138422"/>
                  </a:ext>
                </a:extLst>
              </a:tr>
              <a:tr h="16801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HHT diagnosis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EHR site 392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37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15.4%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17770093"/>
                  </a:ext>
                </a:extLst>
              </a:tr>
              <a:tr h="16801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EHR site 305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31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12.9%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7121705"/>
                  </a:ext>
                </a:extLst>
              </a:tr>
              <a:tr h="16801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EHR site 638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22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9.2%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84704717"/>
                  </a:ext>
                </a:extLst>
              </a:tr>
              <a:tr h="16801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EHR site 321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19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7.9%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2874068"/>
                  </a:ext>
                </a:extLst>
              </a:tr>
              <a:tr h="16801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EHR site 699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7.1%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76126722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C6913BBA-598B-C547-EFAE-C4FFAC72F040}"/>
              </a:ext>
            </a:extLst>
          </p:cNvPr>
          <p:cNvSpPr txBox="1"/>
          <p:nvPr/>
        </p:nvSpPr>
        <p:spPr>
          <a:xfrm>
            <a:off x="9906000" y="1147022"/>
            <a:ext cx="200977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Some may have not submitted EHR to AoU</a:t>
            </a:r>
          </a:p>
        </p:txBody>
      </p:sp>
    </p:spTree>
    <p:extLst>
      <p:ext uri="{BB962C8B-B14F-4D97-AF65-F5344CB8AC3E}">
        <p14:creationId xmlns:p14="http://schemas.microsoft.com/office/powerpoint/2010/main" val="186201428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5E859273-2B99-EB68-156F-E8F04646EA7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71243067"/>
              </p:ext>
            </p:extLst>
          </p:nvPr>
        </p:nvGraphicFramePr>
        <p:xfrm>
          <a:off x="209551" y="203994"/>
          <a:ext cx="5715000" cy="3631565"/>
        </p:xfrm>
        <a:graphic>
          <a:graphicData uri="http://schemas.openxmlformats.org/drawingml/2006/table">
            <a:tbl>
              <a:tblPr/>
              <a:tblGrid>
                <a:gridCol w="2600325">
                  <a:extLst>
                    <a:ext uri="{9D8B030D-6E8A-4147-A177-3AD203B41FA5}">
                      <a16:colId xmlns:a16="http://schemas.microsoft.com/office/drawing/2014/main" val="1546342704"/>
                    </a:ext>
                  </a:extLst>
                </a:gridCol>
                <a:gridCol w="828675">
                  <a:extLst>
                    <a:ext uri="{9D8B030D-6E8A-4147-A177-3AD203B41FA5}">
                      <a16:colId xmlns:a16="http://schemas.microsoft.com/office/drawing/2014/main" val="3827171283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74826294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118571298"/>
                    </a:ext>
                  </a:extLst>
                </a:gridCol>
              </a:tblGrid>
              <a:tr h="304800">
                <a:tc gridSpan="4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Top Self-Reported States by Study Group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56123687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Study group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State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Participants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Share of group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63960394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General population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CA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630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12.6%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01042763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AZ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516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10.3%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83289170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IL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398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8.0%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6035811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MA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333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6.7%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64076266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PA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322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6.4%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9065704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Genetic mutation (no diagnosis)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AZ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178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17.0%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81221177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CA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149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14.2%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619714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IL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77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7.4%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65361159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PA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71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6.8%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05359954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WI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66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6.3%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93979546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HHT diagnosis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CA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37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14.2%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4617065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AL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36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13.8%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9708186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MA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34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13.1%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10031193"/>
                  </a:ext>
                </a:extLst>
              </a:tr>
              <a:tr h="278765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AZ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24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9.2%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71885946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MI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18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6.9%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3997128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PA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18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6.9%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44789896"/>
                  </a:ext>
                </a:extLst>
              </a:tr>
            </a:tbl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DFE12890-E83A-0734-ADE7-1981AC0C1D1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67450" y="0"/>
            <a:ext cx="4391025" cy="6733044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42561727-FB3C-284B-9FC5-E2896693ED6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4360" y="4200684"/>
            <a:ext cx="4265381" cy="273817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0DAB0BB-76A5-D2E8-B74F-C7D2057BC573}"/>
              </a:ext>
            </a:extLst>
          </p:cNvPr>
          <p:cNvSpPr txBox="1"/>
          <p:nvPr/>
        </p:nvSpPr>
        <p:spPr>
          <a:xfrm>
            <a:off x="1533525" y="3924300"/>
            <a:ext cx="29622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HHT Centers of Excellence</a:t>
            </a:r>
          </a:p>
        </p:txBody>
      </p:sp>
    </p:spTree>
    <p:extLst>
      <p:ext uri="{BB962C8B-B14F-4D97-AF65-F5344CB8AC3E}">
        <p14:creationId xmlns:p14="http://schemas.microsoft.com/office/powerpoint/2010/main" val="87052603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DC2781-38DA-DC32-03C7-35AAED1C8A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7839"/>
            <a:ext cx="10515600" cy="945882"/>
          </a:xfrm>
        </p:spPr>
        <p:txBody>
          <a:bodyPr/>
          <a:lstStyle/>
          <a:p>
            <a:r>
              <a:rPr lang="en-US" dirty="0"/>
              <a:t>What has already been done</a:t>
            </a:r>
          </a:p>
        </p:txBody>
      </p:sp>
      <p:sp>
        <p:nvSpPr>
          <p:cNvPr id="15" name="Content Placeholder 14">
            <a:extLst>
              <a:ext uri="{FF2B5EF4-FFF2-40B4-BE49-F238E27FC236}">
                <a16:creationId xmlns:a16="http://schemas.microsoft.com/office/drawing/2014/main" id="{24EED251-D73A-74A1-3B08-EE88AEC5B5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14400"/>
            <a:ext cx="10515600" cy="5262563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Gaetani et al 2026: used </a:t>
            </a:r>
            <a:r>
              <a:rPr lang="en-US" dirty="0" err="1"/>
              <a:t>gnomAD</a:t>
            </a:r>
            <a:r>
              <a:rPr lang="en-US" dirty="0"/>
              <a:t>, All of Us, and Regeneron to estimate genetic prevalence to be around 1.753-4.327 in 5000 individuals. Used SNVs and small indels. Considered known pathogenic and likely pathogenic variants and extended analysis using the ACMG/AMP variant curation guidelines. </a:t>
            </a:r>
          </a:p>
          <a:p>
            <a:pPr lvl="1"/>
            <a:r>
              <a:rPr lang="en-US" dirty="0"/>
              <a:t>Missing: phenotype data</a:t>
            </a:r>
          </a:p>
          <a:p>
            <a:r>
              <a:rPr lang="en-US" dirty="0"/>
              <a:t>CHORUS registry of HHT patients; created in 2022 by Congress. Al-</a:t>
            </a:r>
            <a:r>
              <a:rPr lang="en-US" dirty="0" err="1"/>
              <a:t>Samkari</a:t>
            </a:r>
            <a:r>
              <a:rPr lang="en-US" dirty="0"/>
              <a:t> et al. recently published preliminary findings from first 600 patients.</a:t>
            </a:r>
          </a:p>
          <a:p>
            <a:pPr lvl="1"/>
            <a:r>
              <a:rPr lang="en-US" dirty="0"/>
              <a:t>Missing: epidemiologic data</a:t>
            </a:r>
          </a:p>
          <a:p>
            <a:r>
              <a:rPr lang="en-US" dirty="0"/>
              <a:t>What our paper potentially brings: incorporating epidemiological findings and phenotype data (even though it may not be 100% sensitive)</a:t>
            </a:r>
          </a:p>
          <a:p>
            <a:pPr lvl="1"/>
            <a:r>
              <a:rPr lang="en-US" dirty="0"/>
              <a:t>Key decision point: how granular/robust do we want our genetic analysis to be?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5019125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606DC9-C701-FD04-4A87-9274227FFD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My questions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513835-6F2B-8A57-6594-CF7916FA89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How/if to incorporate ACMG/AMP and/or HGMD</a:t>
            </a:r>
          </a:p>
          <a:p>
            <a:pPr lvl="1"/>
            <a:r>
              <a:rPr lang="en-US" dirty="0"/>
              <a:t>Especially given analysis must be done on AoU’s cloud</a:t>
            </a:r>
          </a:p>
          <a:p>
            <a:pPr lvl="1"/>
            <a:r>
              <a:rPr lang="en-US" dirty="0"/>
              <a:t>How to incorporate </a:t>
            </a:r>
            <a:r>
              <a:rPr lang="en-US" dirty="0" err="1"/>
              <a:t>ClinVar</a:t>
            </a:r>
            <a:endParaRPr lang="en-US" dirty="0"/>
          </a:p>
          <a:p>
            <a:r>
              <a:rPr lang="en-US" dirty="0"/>
              <a:t>Can we dive into the HHT-diagnosed patients who tested negative?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49817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698</TotalTime>
  <Words>1590</Words>
  <Application>Microsoft Office PowerPoint</Application>
  <PresentationFormat>Widescreen</PresentationFormat>
  <Paragraphs>420</Paragraphs>
  <Slides>14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Aptos</vt:lpstr>
      <vt:lpstr>Aptos Display</vt:lpstr>
      <vt:lpstr>Arial</vt:lpstr>
      <vt:lpstr>Calibri</vt:lpstr>
      <vt:lpstr>Segoe UI</vt:lpstr>
      <vt:lpstr>Office Theme</vt:lpstr>
      <vt:lpstr>Hereditary Hemorrhagic Telangiectasia in the All of Us Database</vt:lpstr>
      <vt:lpstr>Table of Contents</vt:lpstr>
      <vt:lpstr>Background</vt:lpstr>
      <vt:lpstr>Genetics of HHT</vt:lpstr>
      <vt:lpstr>Objective</vt:lpstr>
      <vt:lpstr>Methods/The All of Us (AoU) Database</vt:lpstr>
      <vt:lpstr>Barrier: low rate of pathogenic variants in HHT cohort?</vt:lpstr>
      <vt:lpstr>Barrier: what mutations are “pathogenic?”</vt:lpstr>
      <vt:lpstr>ACMG/AMP: a framework for classifying HHT genes</vt:lpstr>
      <vt:lpstr>Genetic “Lost Generation” paper</vt:lpstr>
      <vt:lpstr>Where are HHT patients located?</vt:lpstr>
      <vt:lpstr>PowerPoint Presentation</vt:lpstr>
      <vt:lpstr>What has already been done</vt:lpstr>
      <vt:lpstr>My questions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Kevin Ma</dc:creator>
  <cp:lastModifiedBy>Kevin Ma</cp:lastModifiedBy>
  <cp:revision>1</cp:revision>
  <dcterms:created xsi:type="dcterms:W3CDTF">2026-09-15T13:02:25Z</dcterms:created>
  <dcterms:modified xsi:type="dcterms:W3CDTF">2026-09-30T20:06:57Z</dcterms:modified>
</cp:coreProperties>
</file>